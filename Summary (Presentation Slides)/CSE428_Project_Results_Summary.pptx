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63B"/>
                </a:solidFill>
                <a:latin typeface="Calibri"/>
              </a:defRPr>
            </a:pPr>
            <a:r>
              <a:rPr lang="en-US" sz="1400" b="0" i="0" u="none" strike="noStrike">
                <a:solidFill>
                  <a:srgbClr val="1B263B"/>
                </a:solidFill>
                <a:latin typeface="Calibri"/>
              </a:rPr>
              <a:t>Split Proportions</a:t>
            </a:r>
          </a:p>
        </c:rich>
      </c:tx>
      <c:overlay val="0"/>
    </c:title>
    <c:autoTitleDeleted val="0"/>
    <c:plotArea>
      <c:layout/>
      <c:pieChart>
        <c:varyColors val="1"/>
        <c:ser>
          <c:idx val="0"/>
          <c:order val="0"/>
          <c:tx>
            <c:strRef>
              <c:f>Sheet1!$B$1</c:f>
              <c:strCache>
                <c:ptCount val="1"/>
                <c:pt idx="0">
                  <c:v>Images</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extLst>
              <c:ext xmlns:c16="http://schemas.microsoft.com/office/drawing/2014/chart" uri="{C3380CC4-5D6E-409C-BE32-E72D297353CC}">
                <c16:uniqueId val="{00000001-A03C-433A-9976-F92A28BA602C}"/>
              </c:ext>
            </c:extLst>
          </c:dPt>
          <c:dPt>
            <c:idx val="1"/>
            <c:bubble3D val="0"/>
            <c:spPr>
              <a:solidFill>
                <a:srgbClr val="1C7293"/>
              </a:solidFill>
              <a:effectLst/>
            </c:spPr>
            <c:extLst>
              <c:ext xmlns:c16="http://schemas.microsoft.com/office/drawing/2014/chart" uri="{C3380CC4-5D6E-409C-BE32-E72D297353CC}">
                <c16:uniqueId val="{00000003-A03C-433A-9976-F92A28BA602C}"/>
              </c:ext>
            </c:extLst>
          </c:dPt>
          <c:dPt>
            <c:idx val="2"/>
            <c:bubble3D val="0"/>
            <c:spPr>
              <a:solidFill>
                <a:srgbClr val="F2A65A"/>
              </a:solidFill>
              <a:effectLst/>
            </c:spPr>
            <c:extLst>
              <c:ext xmlns:c16="http://schemas.microsoft.com/office/drawing/2014/chart" uri="{C3380CC4-5D6E-409C-BE32-E72D297353CC}">
                <c16:uniqueId val="{00000005-A03C-433A-9976-F92A28BA602C}"/>
              </c:ext>
            </c:extLst>
          </c:dPt>
          <c:dLbls>
            <c:dLbl>
              <c:idx val="0"/>
              <c:numFmt formatCode="0%" sourceLinked="0"/>
              <c:spPr/>
              <c:txPr>
                <a:bodyPr/>
                <a:lstStyle/>
                <a:p>
                  <a:pPr>
                    <a:defRPr sz="12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03C-433A-9976-F92A28BA602C}"/>
                </c:ext>
              </c:extLst>
            </c:dLbl>
            <c:dLbl>
              <c:idx val="1"/>
              <c:numFmt formatCode="0%" sourceLinked="0"/>
              <c:spPr/>
              <c:txPr>
                <a:bodyPr/>
                <a:lstStyle/>
                <a:p>
                  <a:pPr>
                    <a:defRPr sz="12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03C-433A-9976-F92A28BA602C}"/>
                </c:ext>
              </c:extLst>
            </c:dLbl>
            <c:dLbl>
              <c:idx val="2"/>
              <c:numFmt formatCode="0%" sourceLinked="0"/>
              <c:spPr/>
              <c:txPr>
                <a:bodyPr/>
                <a:lstStyle/>
                <a:p>
                  <a:pPr>
                    <a:defRPr sz="12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03C-433A-9976-F92A28BA602C}"/>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Train</c:v>
                </c:pt>
                <c:pt idx="1">
                  <c:v>Validation</c:v>
                </c:pt>
                <c:pt idx="2">
                  <c:v>Test</c:v>
                </c:pt>
              </c:strCache>
            </c:strRef>
          </c:cat>
          <c:val>
            <c:numRef>
              <c:f>Sheet1!$B$2:$B$4</c:f>
              <c:numCache>
                <c:formatCode>General</c:formatCode>
                <c:ptCount val="3"/>
                <c:pt idx="0">
                  <c:v>5173</c:v>
                </c:pt>
                <c:pt idx="1">
                  <c:v>1108</c:v>
                </c:pt>
                <c:pt idx="2">
                  <c:v>1109</c:v>
                </c:pt>
              </c:numCache>
            </c:numRef>
          </c:val>
          <c:extLst>
            <c:ext xmlns:c16="http://schemas.microsoft.com/office/drawing/2014/chart" uri="{C3380CC4-5D6E-409C-BE32-E72D297353CC}">
              <c16:uniqueId val="{00000006-A03C-433A-9976-F92A28BA602C}"/>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solidFill>
                <a:srgbClr val="1B263B"/>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63B"/>
                </a:solidFill>
                <a:latin typeface="Calibri"/>
              </a:defRPr>
            </a:pPr>
            <a:r>
              <a:rPr lang="en-US" sz="1300" b="0" i="0" u="none" strike="noStrike">
                <a:solidFill>
                  <a:srgbClr val="1B263B"/>
                </a:solidFill>
                <a:latin typeface="Calibri"/>
              </a:rPr>
              <a:t>Loss (lower is better)</a:t>
            </a:r>
          </a:p>
        </c:rich>
      </c:tx>
      <c:overlay val="0"/>
    </c:title>
    <c:autoTitleDeleted val="0"/>
    <c:plotArea>
      <c:layout/>
      <c:lineChart>
        <c:grouping val="standard"/>
        <c:varyColors val="0"/>
        <c:ser>
          <c:idx val="0"/>
          <c:order val="0"/>
          <c:tx>
            <c:strRef>
              <c:f>Sheet1!$B$1</c:f>
              <c:strCache>
                <c:ptCount val="1"/>
                <c:pt idx="0">
                  <c:v>Train Loss</c:v>
                </c:pt>
              </c:strCache>
            </c:strRef>
          </c:tx>
          <c:spPr>
            <a:ln w="28575" cap="flat">
              <a:solidFill>
                <a:srgbClr val="065A82"/>
              </a:solidFill>
              <a:prstDash val="solid"/>
              <a:round/>
            </a:ln>
            <a:effectLst/>
          </c:spPr>
          <c:marker>
            <c:symbol val="circle"/>
            <c:size val="4"/>
            <c:spPr>
              <a:solidFill>
                <a:srgbClr val="065A82"/>
              </a:solidFill>
              <a:ln w="9525" cap="flat">
                <a:solidFill>
                  <a:srgbClr val="065A82"/>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4.0361000000000002</c:v>
                </c:pt>
                <c:pt idx="1">
                  <c:v>3.7330000000000001</c:v>
                </c:pt>
                <c:pt idx="2">
                  <c:v>3.5464000000000002</c:v>
                </c:pt>
                <c:pt idx="3">
                  <c:v>3.3885999999999998</c:v>
                </c:pt>
                <c:pt idx="4">
                  <c:v>3.2183000000000002</c:v>
                </c:pt>
                <c:pt idx="5">
                  <c:v>3.1040000000000001</c:v>
                </c:pt>
                <c:pt idx="6">
                  <c:v>2.9994000000000001</c:v>
                </c:pt>
                <c:pt idx="7">
                  <c:v>2.8892000000000002</c:v>
                </c:pt>
                <c:pt idx="8">
                  <c:v>2.7692999999999999</c:v>
                </c:pt>
                <c:pt idx="9">
                  <c:v>2.6236000000000002</c:v>
                </c:pt>
                <c:pt idx="10">
                  <c:v>2.5091000000000001</c:v>
                </c:pt>
                <c:pt idx="11">
                  <c:v>2.4058000000000002</c:v>
                </c:pt>
                <c:pt idx="12">
                  <c:v>2.2696000000000001</c:v>
                </c:pt>
                <c:pt idx="13">
                  <c:v>2.1705000000000001</c:v>
                </c:pt>
                <c:pt idx="14">
                  <c:v>2.0764</c:v>
                </c:pt>
              </c:numCache>
            </c:numRef>
          </c:val>
          <c:smooth val="0"/>
          <c:extLst>
            <c:ext xmlns:c16="http://schemas.microsoft.com/office/drawing/2014/chart" uri="{C3380CC4-5D6E-409C-BE32-E72D297353CC}">
              <c16:uniqueId val="{00000000-B92F-4230-A639-ED0B97D4C855}"/>
            </c:ext>
          </c:extLst>
        </c:ser>
        <c:ser>
          <c:idx val="1"/>
          <c:order val="1"/>
          <c:tx>
            <c:strRef>
              <c:f>Sheet1!$C$1</c:f>
              <c:strCache>
                <c:ptCount val="1"/>
                <c:pt idx="0">
                  <c:v>Val Loss</c:v>
                </c:pt>
              </c:strCache>
            </c:strRef>
          </c:tx>
          <c:spPr>
            <a:ln w="28575" cap="flat">
              <a:solidFill>
                <a:srgbClr val="F2A65A"/>
              </a:solidFill>
              <a:prstDash val="solid"/>
              <a:round/>
            </a:ln>
            <a:effectLst/>
          </c:spPr>
          <c:marker>
            <c:symbol val="circle"/>
            <c:size val="4"/>
            <c:spPr>
              <a:solidFill>
                <a:srgbClr val="F2A65A"/>
              </a:solidFill>
              <a:ln w="9525" cap="flat">
                <a:solidFill>
                  <a:srgbClr val="F2A65A"/>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4.1125999999999996</c:v>
                </c:pt>
                <c:pt idx="1">
                  <c:v>4.6749000000000001</c:v>
                </c:pt>
                <c:pt idx="2">
                  <c:v>4.6478999999999999</c:v>
                </c:pt>
                <c:pt idx="3">
                  <c:v>3.2911000000000001</c:v>
                </c:pt>
                <c:pt idx="4">
                  <c:v>3.4432999999999998</c:v>
                </c:pt>
                <c:pt idx="5">
                  <c:v>3.2242999999999999</c:v>
                </c:pt>
                <c:pt idx="6">
                  <c:v>3.0945</c:v>
                </c:pt>
                <c:pt idx="7">
                  <c:v>3.0594000000000001</c:v>
                </c:pt>
                <c:pt idx="8">
                  <c:v>2.879</c:v>
                </c:pt>
                <c:pt idx="9">
                  <c:v>3.6375999999999999</c:v>
                </c:pt>
                <c:pt idx="10">
                  <c:v>2.8435999999999999</c:v>
                </c:pt>
                <c:pt idx="11">
                  <c:v>3.0373000000000001</c:v>
                </c:pt>
                <c:pt idx="12">
                  <c:v>2.5678000000000001</c:v>
                </c:pt>
                <c:pt idx="13">
                  <c:v>3.4586999999999999</c:v>
                </c:pt>
                <c:pt idx="14">
                  <c:v>2.5962000000000001</c:v>
                </c:pt>
              </c:numCache>
            </c:numRef>
          </c:val>
          <c:smooth val="0"/>
          <c:extLst>
            <c:ext xmlns:c16="http://schemas.microsoft.com/office/drawing/2014/chart" uri="{C3380CC4-5D6E-409C-BE32-E72D297353CC}">
              <c16:uniqueId val="{00000001-B92F-4230-A639-ED0B97D4C85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6B7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8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B263B"/>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63B"/>
                </a:solidFill>
                <a:latin typeface="Calibri"/>
              </a:defRPr>
            </a:pPr>
            <a:r>
              <a:rPr lang="en-US" sz="1300" b="0" i="0" u="none" strike="noStrike">
                <a:solidFill>
                  <a:srgbClr val="1B263B"/>
                </a:solidFill>
                <a:latin typeface="Calibri"/>
              </a:rPr>
              <a:t>Segmentation mIoU % (higher is better)</a:t>
            </a:r>
          </a:p>
        </c:rich>
      </c:tx>
      <c:overlay val="0"/>
    </c:title>
    <c:autoTitleDeleted val="0"/>
    <c:plotArea>
      <c:layout/>
      <c:lineChart>
        <c:grouping val="standard"/>
        <c:varyColors val="0"/>
        <c:ser>
          <c:idx val="0"/>
          <c:order val="0"/>
          <c:tx>
            <c:strRef>
              <c:f>Sheet1!$B$1</c:f>
              <c:strCache>
                <c:ptCount val="1"/>
                <c:pt idx="0">
                  <c:v>Train mIoU</c:v>
                </c:pt>
              </c:strCache>
            </c:strRef>
          </c:tx>
          <c:spPr>
            <a:ln w="28575" cap="flat">
              <a:solidFill>
                <a:srgbClr val="1C7293"/>
              </a:solidFill>
              <a:prstDash val="solid"/>
              <a:round/>
            </a:ln>
            <a:effectLst/>
          </c:spPr>
          <c:marker>
            <c:symbol val="circle"/>
            <c:size val="4"/>
            <c:spPr>
              <a:solidFill>
                <a:srgbClr val="1C7293"/>
              </a:solidFill>
              <a:ln w="9525" cap="flat">
                <a:solidFill>
                  <a:srgbClr val="1C7293"/>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41.01</c:v>
                </c:pt>
                <c:pt idx="1">
                  <c:v>59.45</c:v>
                </c:pt>
                <c:pt idx="2">
                  <c:v>60.43</c:v>
                </c:pt>
                <c:pt idx="3">
                  <c:v>70.05</c:v>
                </c:pt>
                <c:pt idx="4">
                  <c:v>68.099999999999994</c:v>
                </c:pt>
                <c:pt idx="5">
                  <c:v>66.19</c:v>
                </c:pt>
                <c:pt idx="6">
                  <c:v>70.08</c:v>
                </c:pt>
                <c:pt idx="7">
                  <c:v>70.47</c:v>
                </c:pt>
                <c:pt idx="8">
                  <c:v>71.28</c:v>
                </c:pt>
                <c:pt idx="9">
                  <c:v>68.05</c:v>
                </c:pt>
                <c:pt idx="10">
                  <c:v>66.09</c:v>
                </c:pt>
                <c:pt idx="11">
                  <c:v>76.38</c:v>
                </c:pt>
                <c:pt idx="12">
                  <c:v>76.97</c:v>
                </c:pt>
                <c:pt idx="13">
                  <c:v>72.88</c:v>
                </c:pt>
                <c:pt idx="14">
                  <c:v>76.180000000000007</c:v>
                </c:pt>
              </c:numCache>
            </c:numRef>
          </c:val>
          <c:smooth val="0"/>
          <c:extLst>
            <c:ext xmlns:c16="http://schemas.microsoft.com/office/drawing/2014/chart" uri="{C3380CC4-5D6E-409C-BE32-E72D297353CC}">
              <c16:uniqueId val="{00000000-AE52-4D3D-9EA8-213370F0B95E}"/>
            </c:ext>
          </c:extLst>
        </c:ser>
        <c:ser>
          <c:idx val="1"/>
          <c:order val="1"/>
          <c:tx>
            <c:strRef>
              <c:f>Sheet1!$C$1</c:f>
              <c:strCache>
                <c:ptCount val="1"/>
                <c:pt idx="0">
                  <c:v>Val mIoU</c:v>
                </c:pt>
              </c:strCache>
            </c:strRef>
          </c:tx>
          <c:spPr>
            <a:ln w="28575" cap="flat">
              <a:solidFill>
                <a:srgbClr val="F2A65A"/>
              </a:solidFill>
              <a:prstDash val="solid"/>
              <a:round/>
            </a:ln>
            <a:effectLst/>
          </c:spPr>
          <c:marker>
            <c:symbol val="circle"/>
            <c:size val="4"/>
            <c:spPr>
              <a:solidFill>
                <a:srgbClr val="F2A65A"/>
              </a:solidFill>
              <a:ln w="9525" cap="flat">
                <a:solidFill>
                  <a:srgbClr val="F2A65A"/>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41.01</c:v>
                </c:pt>
                <c:pt idx="1">
                  <c:v>60.29</c:v>
                </c:pt>
                <c:pt idx="2">
                  <c:v>60.88</c:v>
                </c:pt>
                <c:pt idx="3">
                  <c:v>70.95</c:v>
                </c:pt>
                <c:pt idx="4">
                  <c:v>69.150000000000006</c:v>
                </c:pt>
                <c:pt idx="5">
                  <c:v>66.400000000000006</c:v>
                </c:pt>
                <c:pt idx="6">
                  <c:v>71</c:v>
                </c:pt>
                <c:pt idx="7">
                  <c:v>71.31</c:v>
                </c:pt>
                <c:pt idx="8">
                  <c:v>71.010000000000005</c:v>
                </c:pt>
                <c:pt idx="9">
                  <c:v>68.61</c:v>
                </c:pt>
                <c:pt idx="10">
                  <c:v>66.45</c:v>
                </c:pt>
                <c:pt idx="11">
                  <c:v>76.81</c:v>
                </c:pt>
                <c:pt idx="12">
                  <c:v>77.3</c:v>
                </c:pt>
                <c:pt idx="13">
                  <c:v>73.48</c:v>
                </c:pt>
                <c:pt idx="14">
                  <c:v>75.959999999999994</c:v>
                </c:pt>
              </c:numCache>
            </c:numRef>
          </c:val>
          <c:smooth val="0"/>
          <c:extLst>
            <c:ext xmlns:c16="http://schemas.microsoft.com/office/drawing/2014/chart" uri="{C3380CC4-5D6E-409C-BE32-E72D297353CC}">
              <c16:uniqueId val="{00000001-AE52-4D3D-9EA8-213370F0B95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6B7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8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B263B"/>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Test mIoU (%)</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4E5F-4C0A-A047-92CBC9FA4016}"/>
              </c:ext>
            </c:extLst>
          </c:dPt>
          <c:dPt>
            <c:idx val="1"/>
            <c:invertIfNegative val="0"/>
            <c:bubble3D val="0"/>
            <c:extLst>
              <c:ext xmlns:c16="http://schemas.microsoft.com/office/drawing/2014/chart" uri="{C3380CC4-5D6E-409C-BE32-E72D297353CC}">
                <c16:uniqueId val="{00000003-4E5F-4C0A-A047-92CBC9FA4016}"/>
              </c:ext>
            </c:extLst>
          </c:dPt>
          <c:dPt>
            <c:idx val="2"/>
            <c:invertIfNegative val="0"/>
            <c:bubble3D val="0"/>
            <c:extLst>
              <c:ext xmlns:c16="http://schemas.microsoft.com/office/drawing/2014/chart" uri="{C3380CC4-5D6E-409C-BE32-E72D297353CC}">
                <c16:uniqueId val="{00000005-4E5F-4C0A-A047-92CBC9FA4016}"/>
              </c:ext>
            </c:extLst>
          </c:dPt>
          <c:dPt>
            <c:idx val="3"/>
            <c:invertIfNegative val="0"/>
            <c:bubble3D val="0"/>
            <c:spPr>
              <a:solidFill>
                <a:srgbClr val="F2A65A"/>
              </a:solidFill>
              <a:effectLst/>
            </c:spPr>
            <c:extLst>
              <c:ext xmlns:c16="http://schemas.microsoft.com/office/drawing/2014/chart" uri="{C3380CC4-5D6E-409C-BE32-E72D297353CC}">
                <c16:uniqueId val="{00000007-4E5F-4C0A-A047-92CBC9FA4016}"/>
              </c:ext>
            </c:extLst>
          </c:dPt>
          <c:dPt>
            <c:idx val="4"/>
            <c:invertIfNegative val="0"/>
            <c:bubble3D val="0"/>
            <c:extLst>
              <c:ext xmlns:c16="http://schemas.microsoft.com/office/drawing/2014/chart" uri="{C3380CC4-5D6E-409C-BE32-E72D297353CC}">
                <c16:uniqueId val="{00000009-4E5F-4C0A-A047-92CBC9FA4016}"/>
              </c:ext>
            </c:extLst>
          </c:dPt>
          <c:dPt>
            <c:idx val="5"/>
            <c:invertIfNegative val="0"/>
            <c:bubble3D val="0"/>
            <c:extLst>
              <c:ext xmlns:c16="http://schemas.microsoft.com/office/drawing/2014/chart" uri="{C3380CC4-5D6E-409C-BE32-E72D297353CC}">
                <c16:uniqueId val="{0000000B-4E5F-4C0A-A047-92CBC9FA4016}"/>
              </c:ext>
            </c:extLst>
          </c:dPt>
          <c:dPt>
            <c:idx val="6"/>
            <c:invertIfNegative val="0"/>
            <c:bubble3D val="0"/>
            <c:spPr>
              <a:solidFill>
                <a:srgbClr val="F2A65A"/>
              </a:solidFill>
              <a:effectLst/>
            </c:spPr>
            <c:extLst>
              <c:ext xmlns:c16="http://schemas.microsoft.com/office/drawing/2014/chart" uri="{C3380CC4-5D6E-409C-BE32-E72D297353CC}">
                <c16:uniqueId val="{0000000D-4E5F-4C0A-A047-92CBC9FA4016}"/>
              </c:ext>
            </c:extLst>
          </c:dPt>
          <c:dPt>
            <c:idx val="7"/>
            <c:invertIfNegative val="0"/>
            <c:bubble3D val="0"/>
            <c:spPr>
              <a:solidFill>
                <a:srgbClr val="F2A65A"/>
              </a:solidFill>
              <a:effectLst/>
            </c:spPr>
            <c:extLst>
              <c:ext xmlns:c16="http://schemas.microsoft.com/office/drawing/2014/chart" uri="{C3380CC4-5D6E-409C-BE32-E72D297353CC}">
                <c16:uniqueId val="{0000000F-4E5F-4C0A-A047-92CBC9FA4016}"/>
              </c:ext>
            </c:extLst>
          </c:dPt>
          <c:dLbls>
            <c:numFmt formatCode="0.00" sourceLinked="0"/>
            <c:spPr>
              <a:noFill/>
              <a:ln>
                <a:noFill/>
              </a:ln>
              <a:effectLst/>
            </c:spPr>
            <c:txPr>
              <a:bodyPr/>
              <a:lstStyle/>
              <a:p>
                <a:pPr>
                  <a:defRPr sz="1050" b="0" i="0" u="none" strike="noStrike">
                    <a:solidFill>
                      <a:srgbClr val="1B26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MobileNet
Backbone</c:v>
                </c:pt>
                <c:pt idx="1">
                  <c:v>DenseNet
Backbone</c:v>
                </c:pt>
                <c:pt idx="2">
                  <c:v>EfficientNet
Backbone</c:v>
                </c:pt>
                <c:pt idx="3">
                  <c:v>Dice Loss
(retrain)</c:v>
                </c:pt>
                <c:pt idx="4">
                  <c:v>Focal Loss
(retrain)</c:v>
                </c:pt>
                <c:pt idx="5">
                  <c:v>Combo Loss
(retrain)</c:v>
                </c:pt>
                <c:pt idx="6">
                  <c:v>Attention
U-Net</c:v>
                </c:pt>
                <c:pt idx="7">
                  <c:v>Fast BiFPN
U-Net</c:v>
                </c:pt>
              </c:strCache>
            </c:strRef>
          </c:cat>
          <c:val>
            <c:numRef>
              <c:f>Sheet1!$B$2:$B$9</c:f>
              <c:numCache>
                <c:formatCode>General</c:formatCode>
                <c:ptCount val="8"/>
                <c:pt idx="0">
                  <c:v>0.57999999999999996</c:v>
                </c:pt>
                <c:pt idx="1">
                  <c:v>0.18</c:v>
                </c:pt>
                <c:pt idx="2">
                  <c:v>41.64</c:v>
                </c:pt>
                <c:pt idx="3">
                  <c:v>68.75</c:v>
                </c:pt>
                <c:pt idx="4">
                  <c:v>34.14</c:v>
                </c:pt>
                <c:pt idx="5">
                  <c:v>61.44</c:v>
                </c:pt>
                <c:pt idx="6">
                  <c:v>68.260000000000005</c:v>
                </c:pt>
                <c:pt idx="7">
                  <c:v>66.75</c:v>
                </c:pt>
              </c:numCache>
            </c:numRef>
          </c:val>
          <c:extLst>
            <c:ext xmlns:c16="http://schemas.microsoft.com/office/drawing/2014/chart" uri="{C3380CC4-5D6E-409C-BE32-E72D297353CC}">
              <c16:uniqueId val="{00000010-4E5F-4C0A-A047-92CBC9FA401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3"/>
                </a:solidFill>
                <a:latin typeface="Arial"/>
              </a:defRPr>
            </a:pPr>
            <a:endParaRPr lang="en-US"/>
          </a:p>
        </c:txPr>
        <c:crossAx val="2094734552"/>
        <c:crosses val="autoZero"/>
        <c:auto val="1"/>
        <c:lblAlgn val="ctr"/>
        <c:lblOffset val="100"/>
        <c:noMultiLvlLbl val="1"/>
      </c:catAx>
      <c:valAx>
        <c:axId val="2094734552"/>
        <c:scaling>
          <c:orientation val="minMax"/>
          <c:max val="80"/>
        </c:scaling>
        <c:delete val="0"/>
        <c:axPos val="l"/>
        <c:majorGridlines>
          <c:spPr>
            <a:ln w="9525" cap="flat">
              <a:solidFill>
                <a:srgbClr val="D8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C6B7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7482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This deck walks through everything from the notebook - the main model, its training curve, and all five bonus experiments - so I don't get lost jumping between cells while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network, two heads: a segmentation head that outputs a pixel mask, and a classification head off the bottleneck that predicts the breed. Everything in this deck reports metrics for both jobs.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70/15/15 split. 5,173 for training, 1,108 for validation, 1,109 held out for testing.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models total: the main model, plus six bonus variants. Keep this slide up if the audience asks 'wait, which model is this again?'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charts are exactly the notebook's plt.plot curves, rebuilt as native, editable charts. Point out that loss is noisy epoch to epoch but the overall trend goes down. mIoU trend goes up, ending around 76%.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slide. Be upfront that only validation has the full metric set in the notebook - training only tracked mIoU (76.18% at epoch 15), and the base model was never run on the test set at 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comes from the visualize_single_prediction() demo on index 5 of the validation set. Good slide to have on hand if someone asks 'can you show us an actual example?'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these numbers are low because the segmentation half of the network was never trained here - only the classifier swap was tested. Don't let this look like the models are 'bad'.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Dice Loss wins across the board here. Remind the audience this was just a 3-epoch quick retrain to compare losses, not a full training 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are the closest head-to-head comparison in the whole notebook since they used the exact same 3-epoch training setup.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this one: the source PDF just didn't capture the numeric output table for Bonus Task 5. Go back to the live notebook and fill this in before the real presentation.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that puts every bonus experiment side by side. Great for the 'so which one actually worked best' question — answer: Dice Loss retrain, Attention U-Net, and Fast BiFPN U-Net are all clustered near 67-69% mIoU.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The two honest gaps (base-model test set, Bonus 5 metrics) are worth mentioning proactively - it shows you understand your own notebook rather than hiding the gap.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389120" cy="4389120"/>
          </a:xfrm>
          <a:prstGeom prst="ellipse">
            <a:avLst/>
          </a:prstGeom>
          <a:solidFill>
            <a:srgbClr val="065A82">
              <a:alpha val="45000"/>
            </a:srgbClr>
          </a:solidFill>
          <a:ln/>
        </p:spPr>
        <p:txBody>
          <a:bodyPr/>
          <a:lstStyle/>
          <a:p>
            <a:endParaRPr lang="en-US"/>
          </a:p>
        </p:txBody>
      </p:sp>
      <p:sp>
        <p:nvSpPr>
          <p:cNvPr id="3" name="Shape 1"/>
          <p:cNvSpPr/>
          <p:nvPr/>
        </p:nvSpPr>
        <p:spPr>
          <a:xfrm>
            <a:off x="-1280160" y="4206240"/>
            <a:ext cx="3291840" cy="3291840"/>
          </a:xfrm>
          <a:prstGeom prst="ellipse">
            <a:avLst/>
          </a:prstGeom>
          <a:solidFill>
            <a:srgbClr val="1C7293">
              <a:alpha val="45000"/>
            </a:srgbClr>
          </a:solidFill>
          <a:ln/>
        </p:spPr>
        <p:txBody>
          <a:bodyPr/>
          <a:lstStyle/>
          <a:p>
            <a:endParaRPr lang="en-US" dirty="0"/>
          </a:p>
        </p:txBody>
      </p:sp>
      <p:sp>
        <p:nvSpPr>
          <p:cNvPr id="4" name="Text 2"/>
          <p:cNvSpPr/>
          <p:nvPr/>
        </p:nvSpPr>
        <p:spPr>
          <a:xfrm>
            <a:off x="502920" y="1965960"/>
            <a:ext cx="10058400" cy="365760"/>
          </a:xfrm>
          <a:prstGeom prst="rect">
            <a:avLst/>
          </a:prstGeom>
          <a:noFill/>
          <a:ln/>
        </p:spPr>
        <p:txBody>
          <a:bodyPr wrap="square"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CSE428 — IMAGE PROCESSING PROJECT</a:t>
            </a:r>
            <a:endParaRPr lang="en-US" sz="1400" dirty="0"/>
          </a:p>
        </p:txBody>
      </p:sp>
      <p:sp>
        <p:nvSpPr>
          <p:cNvPr id="5" name="Text 3"/>
          <p:cNvSpPr/>
          <p:nvPr/>
        </p:nvSpPr>
        <p:spPr>
          <a:xfrm>
            <a:off x="502920" y="2331720"/>
            <a:ext cx="10515600" cy="118872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Pet Segmentation &amp; Breed Classification</a:t>
            </a:r>
            <a:endParaRPr lang="en-US" sz="4000" dirty="0"/>
          </a:p>
        </p:txBody>
      </p:sp>
      <p:sp>
        <p:nvSpPr>
          <p:cNvPr id="6" name="Text 4"/>
          <p:cNvSpPr/>
          <p:nvPr/>
        </p:nvSpPr>
        <p:spPr>
          <a:xfrm>
            <a:off x="502920" y="3429000"/>
            <a:ext cx="10058400" cy="50292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Multi-Task U-Net Story — Results Summary</a:t>
            </a:r>
            <a:endParaRPr lang="en-US" sz="1800" dirty="0"/>
          </a:p>
        </p:txBody>
      </p:sp>
      <p:sp>
        <p:nvSpPr>
          <p:cNvPr id="7" name="Text 5"/>
          <p:cNvSpPr/>
          <p:nvPr/>
        </p:nvSpPr>
        <p:spPr>
          <a:xfrm>
            <a:off x="579120" y="4646295"/>
            <a:ext cx="10058400" cy="868680"/>
          </a:xfrm>
          <a:prstGeom prst="rect">
            <a:avLst/>
          </a:prstGeom>
          <a:noFill/>
          <a:ln/>
        </p:spPr>
        <p:txBody>
          <a:bodyPr wrap="square" rtlCol="0" anchor="ctr"/>
          <a:lstStyle/>
          <a:p>
            <a:pPr marL="0" indent="0">
              <a:buNone/>
            </a:pPr>
            <a:r>
              <a:rPr lang="en-US" sz="1400" b="1" dirty="0">
                <a:solidFill>
                  <a:schemeClr val="bg1">
                    <a:lumMod val="95000"/>
                  </a:schemeClr>
                </a:solidFill>
              </a:rPr>
              <a:t>Tasnim Rahman Moumita</a:t>
            </a:r>
            <a:br>
              <a:rPr lang="en-US" sz="1400" b="1" dirty="0">
                <a:solidFill>
                  <a:schemeClr val="bg1">
                    <a:lumMod val="95000"/>
                  </a:schemeClr>
                </a:solidFill>
              </a:rPr>
            </a:br>
            <a:r>
              <a:rPr lang="en-US" sz="1400" b="1" dirty="0">
                <a:solidFill>
                  <a:schemeClr val="bg1">
                    <a:lumMod val="95000"/>
                  </a:schemeClr>
                </a:solidFill>
              </a:rPr>
              <a:t>ID-22301689</a:t>
            </a:r>
            <a:br>
              <a:rPr lang="en-US" sz="1400" b="1" dirty="0">
                <a:solidFill>
                  <a:schemeClr val="bg1">
                    <a:lumMod val="95000"/>
                  </a:schemeClr>
                </a:solidFill>
              </a:rPr>
            </a:br>
            <a:r>
              <a:rPr lang="en-US" sz="1400" b="1" dirty="0">
                <a:solidFill>
                  <a:schemeClr val="bg1">
                    <a:lumMod val="95000"/>
                  </a:schemeClr>
                </a:solidFill>
              </a:rPr>
              <a:t>CSE428</a:t>
            </a:r>
            <a:br>
              <a:rPr lang="en-US" sz="1400" b="1" dirty="0">
                <a:solidFill>
                  <a:schemeClr val="bg1">
                    <a:lumMod val="95000"/>
                  </a:schemeClr>
                </a:solidFill>
              </a:rPr>
            </a:br>
            <a:r>
              <a:rPr lang="en-US" sz="1400" b="1" dirty="0">
                <a:solidFill>
                  <a:schemeClr val="bg1">
                    <a:lumMod val="95000"/>
                  </a:schemeClr>
                </a:solidFill>
              </a:rPr>
              <a:t>Section-04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PROJECT OVERVIEW</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What This Project Actually Does</a:t>
            </a:r>
            <a:endParaRPr lang="en-US" sz="3000" dirty="0"/>
          </a:p>
        </p:txBody>
      </p:sp>
      <p:sp>
        <p:nvSpPr>
          <p:cNvPr id="4" name="Text 2"/>
          <p:cNvSpPr/>
          <p:nvPr/>
        </p:nvSpPr>
        <p:spPr>
          <a:xfrm>
            <a:off x="502920" y="1417320"/>
            <a:ext cx="11155680" cy="457200"/>
          </a:xfrm>
          <a:prstGeom prst="rect">
            <a:avLst/>
          </a:prstGeom>
          <a:noFill/>
          <a:ln/>
        </p:spPr>
        <p:txBody>
          <a:bodyPr wrap="square" rtlCol="0" anchor="ctr"/>
          <a:lstStyle/>
          <a:p>
            <a:pPr marL="0" indent="0">
              <a:buNone/>
            </a:pPr>
            <a:r>
              <a:rPr lang="en-US" sz="1500" dirty="0">
                <a:solidFill>
                  <a:srgbClr val="5C6B73"/>
                </a:solidFill>
                <a:latin typeface="Calibri" pitchFamily="34" charset="0"/>
                <a:ea typeface="Calibri" pitchFamily="34" charset="-122"/>
                <a:cs typeface="Calibri" pitchFamily="34" charset="-120"/>
              </a:rPr>
              <a:t>We built one network that does two jobs on every pet photo at the same time. That's called multi-task learning.</a:t>
            </a:r>
            <a:endParaRPr lang="en-US" sz="1500" dirty="0"/>
          </a:p>
        </p:txBody>
      </p:sp>
      <p:sp>
        <p:nvSpPr>
          <p:cNvPr id="5" name="Shape 3"/>
          <p:cNvSpPr/>
          <p:nvPr/>
        </p:nvSpPr>
        <p:spPr>
          <a:xfrm>
            <a:off x="502920" y="2148840"/>
            <a:ext cx="5349240" cy="2834640"/>
          </a:xfrm>
          <a:prstGeom prst="roundRect">
            <a:avLst>
              <a:gd name="adj" fmla="val 3226"/>
            </a:avLst>
          </a:prstGeom>
          <a:solidFill>
            <a:srgbClr val="065A82"/>
          </a:solidFill>
          <a:ln/>
        </p:spPr>
        <p:txBody>
          <a:bodyPr/>
          <a:lstStyle/>
          <a:p>
            <a:endParaRPr lang="en-US"/>
          </a:p>
        </p:txBody>
      </p:sp>
      <p:sp>
        <p:nvSpPr>
          <p:cNvPr id="6" name="Text 4"/>
          <p:cNvSpPr/>
          <p:nvPr/>
        </p:nvSpPr>
        <p:spPr>
          <a:xfrm>
            <a:off x="777240" y="2377440"/>
            <a:ext cx="640080" cy="640080"/>
          </a:xfrm>
          <a:prstGeom prst="rect">
            <a:avLst/>
          </a:prstGeom>
          <a:noFill/>
          <a:ln/>
        </p:spPr>
        <p:txBody>
          <a:bodyPr wrap="square" rtlCol="0" anchor="ctr"/>
          <a:lstStyle/>
          <a:p>
            <a:pPr marL="0" indent="0">
              <a:buNone/>
            </a:pPr>
            <a:r>
              <a:rPr lang="en-US" sz="3400" b="1" dirty="0">
                <a:solidFill>
                  <a:srgbClr val="F2A65A"/>
                </a:solidFill>
                <a:latin typeface="Cambria" pitchFamily="34" charset="0"/>
                <a:ea typeface="Cambria" pitchFamily="34" charset="-122"/>
                <a:cs typeface="Cambria" pitchFamily="34" charset="-120"/>
              </a:rPr>
              <a:t>1</a:t>
            </a:r>
            <a:endParaRPr lang="en-US" sz="3400" dirty="0"/>
          </a:p>
        </p:txBody>
      </p:sp>
      <p:sp>
        <p:nvSpPr>
          <p:cNvPr id="7" name="Text 5"/>
          <p:cNvSpPr/>
          <p:nvPr/>
        </p:nvSpPr>
        <p:spPr>
          <a:xfrm>
            <a:off x="777240" y="3063240"/>
            <a:ext cx="480060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Segmentation</a:t>
            </a:r>
            <a:endParaRPr lang="en-US" sz="2000" dirty="0"/>
          </a:p>
        </p:txBody>
      </p:sp>
      <p:sp>
        <p:nvSpPr>
          <p:cNvPr id="8" name="Text 6"/>
          <p:cNvSpPr/>
          <p:nvPr/>
        </p:nvSpPr>
        <p:spPr>
          <a:xfrm>
            <a:off x="777240" y="3566160"/>
            <a:ext cx="4800600" cy="1188720"/>
          </a:xfrm>
          <a:prstGeom prst="rect">
            <a:avLst/>
          </a:prstGeom>
          <a:noFill/>
          <a:ln/>
        </p:spPr>
        <p:txBody>
          <a:bodyPr wrap="square" rtlCol="0" anchor="t"/>
          <a:lstStyle/>
          <a:p>
            <a:pPr marL="0" indent="0">
              <a:buNone/>
            </a:pPr>
            <a:r>
              <a:rPr lang="en-US" sz="1350" dirty="0">
                <a:solidFill>
                  <a:srgbClr val="D8E7F0"/>
                </a:solidFill>
                <a:latin typeface="Calibri" pitchFamily="34" charset="0"/>
                <a:ea typeface="Calibri" pitchFamily="34" charset="-122"/>
                <a:cs typeface="Calibri" pitchFamily="34" charset="-120"/>
              </a:rPr>
              <a:t>Draw a mask over the picture: which pixels are 'pet' and which are 'background'. Judged with mIoU, Dice, and Pixel Accuracy.</a:t>
            </a:r>
            <a:endParaRPr lang="en-US" sz="1350" dirty="0"/>
          </a:p>
        </p:txBody>
      </p:sp>
      <p:sp>
        <p:nvSpPr>
          <p:cNvPr id="9" name="Shape 7"/>
          <p:cNvSpPr/>
          <p:nvPr/>
        </p:nvSpPr>
        <p:spPr>
          <a:xfrm>
            <a:off x="6309360" y="2148840"/>
            <a:ext cx="5349240" cy="2834640"/>
          </a:xfrm>
          <a:prstGeom prst="roundRect">
            <a:avLst>
              <a:gd name="adj" fmla="val 3226"/>
            </a:avLst>
          </a:prstGeom>
          <a:solidFill>
            <a:srgbClr val="1C7293"/>
          </a:solidFill>
          <a:ln/>
        </p:spPr>
        <p:txBody>
          <a:bodyPr/>
          <a:lstStyle/>
          <a:p>
            <a:endParaRPr lang="en-US"/>
          </a:p>
        </p:txBody>
      </p:sp>
      <p:sp>
        <p:nvSpPr>
          <p:cNvPr id="10" name="Text 8"/>
          <p:cNvSpPr/>
          <p:nvPr/>
        </p:nvSpPr>
        <p:spPr>
          <a:xfrm>
            <a:off x="6583680" y="2377440"/>
            <a:ext cx="640080" cy="640080"/>
          </a:xfrm>
          <a:prstGeom prst="rect">
            <a:avLst/>
          </a:prstGeom>
          <a:noFill/>
          <a:ln/>
        </p:spPr>
        <p:txBody>
          <a:bodyPr wrap="square" rtlCol="0" anchor="ctr"/>
          <a:lstStyle/>
          <a:p>
            <a:pPr marL="0" indent="0">
              <a:buNone/>
            </a:pPr>
            <a:r>
              <a:rPr lang="en-US" sz="3400" b="1" dirty="0">
                <a:solidFill>
                  <a:srgbClr val="F2A65A"/>
                </a:solidFill>
                <a:latin typeface="Cambria" pitchFamily="34" charset="0"/>
                <a:ea typeface="Cambria" pitchFamily="34" charset="-122"/>
                <a:cs typeface="Cambria" pitchFamily="34" charset="-120"/>
              </a:rPr>
              <a:t>2</a:t>
            </a:r>
            <a:endParaRPr lang="en-US" sz="3400" dirty="0"/>
          </a:p>
        </p:txBody>
      </p:sp>
      <p:sp>
        <p:nvSpPr>
          <p:cNvPr id="11" name="Text 9"/>
          <p:cNvSpPr/>
          <p:nvPr/>
        </p:nvSpPr>
        <p:spPr>
          <a:xfrm>
            <a:off x="6583680" y="3063240"/>
            <a:ext cx="480060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Classification</a:t>
            </a:r>
            <a:endParaRPr lang="en-US" sz="2000" dirty="0"/>
          </a:p>
        </p:txBody>
      </p:sp>
      <p:sp>
        <p:nvSpPr>
          <p:cNvPr id="12" name="Text 10"/>
          <p:cNvSpPr/>
          <p:nvPr/>
        </p:nvSpPr>
        <p:spPr>
          <a:xfrm>
            <a:off x="6583680" y="3566160"/>
            <a:ext cx="4800600" cy="1188720"/>
          </a:xfrm>
          <a:prstGeom prst="rect">
            <a:avLst/>
          </a:prstGeom>
          <a:noFill/>
          <a:ln/>
        </p:spPr>
        <p:txBody>
          <a:bodyPr wrap="square" rtlCol="0" anchor="t"/>
          <a:lstStyle/>
          <a:p>
            <a:pPr marL="0" indent="0">
              <a:buNone/>
            </a:pPr>
            <a:r>
              <a:rPr lang="en-US" sz="1350" dirty="0">
                <a:solidFill>
                  <a:srgbClr val="DCEFEA"/>
                </a:solidFill>
                <a:latin typeface="Calibri" pitchFamily="34" charset="0"/>
                <a:ea typeface="Calibri" pitchFamily="34" charset="-122"/>
                <a:cs typeface="Calibri" pitchFamily="34" charset="-120"/>
              </a:rPr>
              <a:t>Guess the breed out of 37 possible cat/dog breeds. Judged with Accuracy, Precision, Recall, and F1 Score.</a:t>
            </a:r>
            <a:endParaRPr lang="en-US" sz="1350" dirty="0"/>
          </a:p>
        </p:txBody>
      </p:sp>
      <p:sp>
        <p:nvSpPr>
          <p:cNvPr id="13" name="Text 11"/>
          <p:cNvSpPr/>
          <p:nvPr/>
        </p:nvSpPr>
        <p:spPr>
          <a:xfrm>
            <a:off x="502920" y="5212080"/>
            <a:ext cx="11155680" cy="411480"/>
          </a:xfrm>
          <a:prstGeom prst="rect">
            <a:avLst/>
          </a:prstGeom>
          <a:noFill/>
          <a:ln/>
        </p:spPr>
        <p:txBody>
          <a:bodyPr wrap="square" rtlCol="0" anchor="ctr"/>
          <a:lstStyle/>
          <a:p>
            <a:pPr marL="0" indent="0">
              <a:buNone/>
            </a:pPr>
            <a:r>
              <a:rPr lang="en-US" sz="1250" i="1" dirty="0">
                <a:solidFill>
                  <a:srgbClr val="5C6B73"/>
                </a:solidFill>
                <a:latin typeface="Calibri" pitchFamily="34" charset="0"/>
                <a:ea typeface="Calibri" pitchFamily="34" charset="-122"/>
                <a:cs typeface="Calibri" pitchFamily="34" charset="-120"/>
              </a:rPr>
              <a:t>Dataset: Oxford-IIIT Pet Dataset (37 breeds of cats &amp; dogs)   •   Images resized to 128 x 128   •   Trained on a Colab Tesla T4 GPU</a:t>
            </a:r>
            <a:endParaRPr lang="en-US" sz="1250" dirty="0"/>
          </a:p>
        </p:txBody>
      </p:sp>
      <p:sp>
        <p:nvSpPr>
          <p:cNvPr id="14" name="Text 12"/>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a:t>
            </a:r>
            <a:endParaRPr lang="en-US" sz="900" dirty="0"/>
          </a:p>
        </p:txBody>
      </p:sp>
      <p:sp>
        <p:nvSpPr>
          <p:cNvPr id="15" name="Text 1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DATASET</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How the Data Was Split</a:t>
            </a:r>
            <a:endParaRPr lang="en-US" sz="3000" dirty="0"/>
          </a:p>
        </p:txBody>
      </p:sp>
      <p:sp>
        <p:nvSpPr>
          <p:cNvPr id="4" name="Shape 2"/>
          <p:cNvSpPr/>
          <p:nvPr/>
        </p:nvSpPr>
        <p:spPr>
          <a:xfrm>
            <a:off x="502920" y="1554480"/>
            <a:ext cx="3383280" cy="1691640"/>
          </a:xfrm>
          <a:prstGeom prst="roundRect">
            <a:avLst>
              <a:gd name="adj" fmla="val 4324"/>
            </a:avLst>
          </a:prstGeom>
          <a:solidFill>
            <a:srgbClr val="F2F6F8"/>
          </a:solidFill>
          <a:ln w="9525">
            <a:solidFill>
              <a:srgbClr val="D8E1E6"/>
            </a:solidFill>
            <a:prstDash val="solid"/>
          </a:ln>
        </p:spPr>
        <p:txBody>
          <a:bodyPr/>
          <a:lstStyle/>
          <a:p>
            <a:endParaRPr lang="en-US"/>
          </a:p>
        </p:txBody>
      </p:sp>
      <p:sp>
        <p:nvSpPr>
          <p:cNvPr id="5" name="Text 3"/>
          <p:cNvSpPr/>
          <p:nvPr/>
        </p:nvSpPr>
        <p:spPr>
          <a:xfrm>
            <a:off x="594360" y="1664208"/>
            <a:ext cx="3200400" cy="930402"/>
          </a:xfrm>
          <a:prstGeom prst="rect">
            <a:avLst/>
          </a:prstGeom>
          <a:noFill/>
          <a:ln/>
        </p:spPr>
        <p:txBody>
          <a:bodyPr wrap="square" rtlCol="0" anchor="b"/>
          <a:lstStyle/>
          <a:p>
            <a:pPr marL="0" indent="0" algn="ctr">
              <a:buNone/>
            </a:pPr>
            <a:r>
              <a:rPr lang="en-US" sz="3000" b="1" dirty="0">
                <a:solidFill>
                  <a:srgbClr val="065A82"/>
                </a:solidFill>
                <a:latin typeface="Cambria" pitchFamily="34" charset="0"/>
                <a:ea typeface="Cambria" pitchFamily="34" charset="-122"/>
                <a:cs typeface="Cambria" pitchFamily="34" charset="-120"/>
              </a:rPr>
              <a:t>5,173</a:t>
            </a:r>
            <a:endParaRPr lang="en-US" sz="3000" dirty="0"/>
          </a:p>
        </p:txBody>
      </p:sp>
      <p:sp>
        <p:nvSpPr>
          <p:cNvPr id="6" name="Text 4"/>
          <p:cNvSpPr/>
          <p:nvPr/>
        </p:nvSpPr>
        <p:spPr>
          <a:xfrm>
            <a:off x="594360" y="2603297"/>
            <a:ext cx="3200400" cy="575158"/>
          </a:xfrm>
          <a:prstGeom prst="rect">
            <a:avLst/>
          </a:prstGeom>
          <a:noFill/>
          <a:ln/>
        </p:spPr>
        <p:txBody>
          <a:bodyPr wrap="square" rtlCol="0" anchor="t"/>
          <a:lstStyle/>
          <a:p>
            <a:pPr marL="0" indent="0" algn="ctr">
              <a:buNone/>
            </a:pPr>
            <a:r>
              <a:rPr lang="en-US" sz="1150" dirty="0">
                <a:solidFill>
                  <a:srgbClr val="5C6B73"/>
                </a:solidFill>
                <a:latin typeface="Calibri" pitchFamily="34" charset="0"/>
                <a:ea typeface="Calibri" pitchFamily="34" charset="-122"/>
                <a:cs typeface="Calibri" pitchFamily="34" charset="-120"/>
              </a:rPr>
              <a:t>Training images (70%)</a:t>
            </a:r>
            <a:endParaRPr lang="en-US" sz="1150" dirty="0"/>
          </a:p>
        </p:txBody>
      </p:sp>
      <p:sp>
        <p:nvSpPr>
          <p:cNvPr id="7" name="Shape 5"/>
          <p:cNvSpPr/>
          <p:nvPr/>
        </p:nvSpPr>
        <p:spPr>
          <a:xfrm>
            <a:off x="502920" y="3429000"/>
            <a:ext cx="3383280" cy="1691640"/>
          </a:xfrm>
          <a:prstGeom prst="roundRect">
            <a:avLst>
              <a:gd name="adj" fmla="val 4324"/>
            </a:avLst>
          </a:prstGeom>
          <a:solidFill>
            <a:srgbClr val="F2F6F8"/>
          </a:solidFill>
          <a:ln w="9525">
            <a:solidFill>
              <a:srgbClr val="D8E1E6"/>
            </a:solidFill>
            <a:prstDash val="solid"/>
          </a:ln>
        </p:spPr>
        <p:txBody>
          <a:bodyPr/>
          <a:lstStyle/>
          <a:p>
            <a:endParaRPr lang="en-US"/>
          </a:p>
        </p:txBody>
      </p:sp>
      <p:sp>
        <p:nvSpPr>
          <p:cNvPr id="8" name="Text 6"/>
          <p:cNvSpPr/>
          <p:nvPr/>
        </p:nvSpPr>
        <p:spPr>
          <a:xfrm>
            <a:off x="594360" y="3538728"/>
            <a:ext cx="3200400" cy="930402"/>
          </a:xfrm>
          <a:prstGeom prst="rect">
            <a:avLst/>
          </a:prstGeom>
          <a:noFill/>
          <a:ln/>
        </p:spPr>
        <p:txBody>
          <a:bodyPr wrap="square" rtlCol="0" anchor="b"/>
          <a:lstStyle/>
          <a:p>
            <a:pPr marL="0" indent="0" algn="ctr">
              <a:buNone/>
            </a:pPr>
            <a:r>
              <a:rPr lang="en-US" sz="3000" b="1" dirty="0">
                <a:solidFill>
                  <a:srgbClr val="1C7293"/>
                </a:solidFill>
                <a:latin typeface="Cambria" pitchFamily="34" charset="0"/>
                <a:ea typeface="Cambria" pitchFamily="34" charset="-122"/>
                <a:cs typeface="Cambria" pitchFamily="34" charset="-120"/>
              </a:rPr>
              <a:t>1,108</a:t>
            </a:r>
            <a:endParaRPr lang="en-US" sz="3000" dirty="0"/>
          </a:p>
        </p:txBody>
      </p:sp>
      <p:sp>
        <p:nvSpPr>
          <p:cNvPr id="9" name="Text 7"/>
          <p:cNvSpPr/>
          <p:nvPr/>
        </p:nvSpPr>
        <p:spPr>
          <a:xfrm>
            <a:off x="594360" y="4477817"/>
            <a:ext cx="3200400" cy="575158"/>
          </a:xfrm>
          <a:prstGeom prst="rect">
            <a:avLst/>
          </a:prstGeom>
          <a:noFill/>
          <a:ln/>
        </p:spPr>
        <p:txBody>
          <a:bodyPr wrap="square" rtlCol="0" anchor="t"/>
          <a:lstStyle/>
          <a:p>
            <a:pPr marL="0" indent="0" algn="ctr">
              <a:buNone/>
            </a:pPr>
            <a:r>
              <a:rPr lang="en-US" sz="1150" dirty="0">
                <a:solidFill>
                  <a:srgbClr val="5C6B73"/>
                </a:solidFill>
                <a:latin typeface="Calibri" pitchFamily="34" charset="0"/>
                <a:ea typeface="Calibri" pitchFamily="34" charset="-122"/>
                <a:cs typeface="Calibri" pitchFamily="34" charset="-120"/>
              </a:rPr>
              <a:t>Validation images (15%)</a:t>
            </a:r>
            <a:endParaRPr lang="en-US" sz="1150" dirty="0"/>
          </a:p>
        </p:txBody>
      </p:sp>
      <p:graphicFrame>
        <p:nvGraphicFramePr>
          <p:cNvPr id="10" name="Chart 0"/>
          <p:cNvGraphicFramePr/>
          <p:nvPr/>
        </p:nvGraphicFramePr>
        <p:xfrm>
          <a:off x="4114800" y="1554480"/>
          <a:ext cx="36576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8229600" y="1554480"/>
            <a:ext cx="3383280" cy="1691640"/>
          </a:xfrm>
          <a:prstGeom prst="roundRect">
            <a:avLst>
              <a:gd name="adj" fmla="val 4324"/>
            </a:avLst>
          </a:prstGeom>
          <a:solidFill>
            <a:srgbClr val="F2F6F8"/>
          </a:solidFill>
          <a:ln w="9525">
            <a:solidFill>
              <a:srgbClr val="D8E1E6"/>
            </a:solidFill>
            <a:prstDash val="solid"/>
          </a:ln>
        </p:spPr>
        <p:txBody>
          <a:bodyPr/>
          <a:lstStyle/>
          <a:p>
            <a:endParaRPr lang="en-US"/>
          </a:p>
        </p:txBody>
      </p:sp>
      <p:sp>
        <p:nvSpPr>
          <p:cNvPr id="12" name="Text 9"/>
          <p:cNvSpPr/>
          <p:nvPr/>
        </p:nvSpPr>
        <p:spPr>
          <a:xfrm>
            <a:off x="8321040" y="1664208"/>
            <a:ext cx="3200400" cy="930402"/>
          </a:xfrm>
          <a:prstGeom prst="rect">
            <a:avLst/>
          </a:prstGeom>
          <a:noFill/>
          <a:ln/>
        </p:spPr>
        <p:txBody>
          <a:bodyPr wrap="square" rtlCol="0" anchor="b"/>
          <a:lstStyle/>
          <a:p>
            <a:pPr marL="0" indent="0" algn="ctr">
              <a:buNone/>
            </a:pPr>
            <a:r>
              <a:rPr lang="en-US" sz="3000" b="1" dirty="0">
                <a:solidFill>
                  <a:srgbClr val="F2A65A"/>
                </a:solidFill>
                <a:latin typeface="Cambria" pitchFamily="34" charset="0"/>
                <a:ea typeface="Cambria" pitchFamily="34" charset="-122"/>
                <a:cs typeface="Cambria" pitchFamily="34" charset="-120"/>
              </a:rPr>
              <a:t>1,109</a:t>
            </a:r>
            <a:endParaRPr lang="en-US" sz="3000" dirty="0"/>
          </a:p>
        </p:txBody>
      </p:sp>
      <p:sp>
        <p:nvSpPr>
          <p:cNvPr id="13" name="Text 10"/>
          <p:cNvSpPr/>
          <p:nvPr/>
        </p:nvSpPr>
        <p:spPr>
          <a:xfrm>
            <a:off x="8321040" y="2603297"/>
            <a:ext cx="3200400" cy="575158"/>
          </a:xfrm>
          <a:prstGeom prst="rect">
            <a:avLst/>
          </a:prstGeom>
          <a:noFill/>
          <a:ln/>
        </p:spPr>
        <p:txBody>
          <a:bodyPr wrap="square" rtlCol="0" anchor="t"/>
          <a:lstStyle/>
          <a:p>
            <a:pPr marL="0" indent="0" algn="ctr">
              <a:buNone/>
            </a:pPr>
            <a:r>
              <a:rPr lang="en-US" sz="1150" dirty="0">
                <a:solidFill>
                  <a:srgbClr val="5C6B73"/>
                </a:solidFill>
                <a:latin typeface="Calibri" pitchFamily="34" charset="0"/>
                <a:ea typeface="Calibri" pitchFamily="34" charset="-122"/>
                <a:cs typeface="Calibri" pitchFamily="34" charset="-120"/>
              </a:rPr>
              <a:t>Test images (15%)</a:t>
            </a:r>
            <a:endParaRPr lang="en-US" sz="1150" dirty="0"/>
          </a:p>
        </p:txBody>
      </p:sp>
      <p:sp>
        <p:nvSpPr>
          <p:cNvPr id="14" name="Shape 11"/>
          <p:cNvSpPr/>
          <p:nvPr/>
        </p:nvSpPr>
        <p:spPr>
          <a:xfrm>
            <a:off x="8229600" y="3429000"/>
            <a:ext cx="3383280" cy="1691640"/>
          </a:xfrm>
          <a:prstGeom prst="roundRect">
            <a:avLst>
              <a:gd name="adj" fmla="val 4324"/>
            </a:avLst>
          </a:prstGeom>
          <a:solidFill>
            <a:srgbClr val="13294B"/>
          </a:solidFill>
          <a:ln/>
        </p:spPr>
        <p:txBody>
          <a:bodyPr/>
          <a:lstStyle/>
          <a:p>
            <a:endParaRPr lang="en-US"/>
          </a:p>
        </p:txBody>
      </p:sp>
      <p:sp>
        <p:nvSpPr>
          <p:cNvPr id="15" name="Text 12"/>
          <p:cNvSpPr/>
          <p:nvPr/>
        </p:nvSpPr>
        <p:spPr>
          <a:xfrm>
            <a:off x="8321040" y="3538728"/>
            <a:ext cx="3200400" cy="914400"/>
          </a:xfrm>
          <a:prstGeom prst="rect">
            <a:avLst/>
          </a:prstGeom>
          <a:noFill/>
          <a:ln/>
        </p:spPr>
        <p:txBody>
          <a:bodyPr wrap="square" rtlCol="0" anchor="b"/>
          <a:lstStyle/>
          <a:p>
            <a:pPr marL="0" indent="0" algn="ctr">
              <a:buNone/>
            </a:pPr>
            <a:r>
              <a:rPr lang="en-US" sz="3000" b="1" dirty="0">
                <a:solidFill>
                  <a:srgbClr val="FFFFFF"/>
                </a:solidFill>
                <a:latin typeface="Cambria" pitchFamily="34" charset="0"/>
                <a:ea typeface="Cambria" pitchFamily="34" charset="-122"/>
                <a:cs typeface="Cambria" pitchFamily="34" charset="-120"/>
              </a:rPr>
              <a:t>7,390</a:t>
            </a:r>
            <a:endParaRPr lang="en-US" sz="3000" dirty="0"/>
          </a:p>
        </p:txBody>
      </p:sp>
      <p:sp>
        <p:nvSpPr>
          <p:cNvPr id="16" name="Text 13"/>
          <p:cNvSpPr/>
          <p:nvPr/>
        </p:nvSpPr>
        <p:spPr>
          <a:xfrm>
            <a:off x="8321040" y="4526280"/>
            <a:ext cx="3200400" cy="502920"/>
          </a:xfrm>
          <a:prstGeom prst="rect">
            <a:avLst/>
          </a:prstGeom>
          <a:noFill/>
          <a:ln/>
        </p:spPr>
        <p:txBody>
          <a:bodyPr wrap="square" rtlCol="0" anchor="t"/>
          <a:lstStyle/>
          <a:p>
            <a:pPr marL="0" indent="0" algn="ctr">
              <a:buNone/>
            </a:pPr>
            <a:r>
              <a:rPr lang="en-US" sz="1100" dirty="0">
                <a:solidFill>
                  <a:srgbClr val="CADCFC"/>
                </a:solidFill>
                <a:latin typeface="Calibri" pitchFamily="34" charset="0"/>
                <a:ea typeface="Calibri" pitchFamily="34" charset="-122"/>
                <a:cs typeface="Calibri" pitchFamily="34" charset="-120"/>
              </a:rPr>
              <a:t>Total valid images used</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(images with a matching trimap mask)</a:t>
            </a:r>
            <a:endParaRPr lang="en-US" sz="1100" dirty="0"/>
          </a:p>
        </p:txBody>
      </p:sp>
      <p:sp>
        <p:nvSpPr>
          <p:cNvPr id="17" name="Text 14"/>
          <p:cNvSpPr/>
          <p:nvPr/>
        </p:nvSpPr>
        <p:spPr>
          <a:xfrm>
            <a:off x="502920" y="5532120"/>
            <a:ext cx="11155680" cy="365760"/>
          </a:xfrm>
          <a:prstGeom prst="rect">
            <a:avLst/>
          </a:prstGeom>
          <a:noFill/>
          <a:ln/>
        </p:spPr>
        <p:txBody>
          <a:bodyPr wrap="square" rtlCol="0" anchor="ctr"/>
          <a:lstStyle/>
          <a:p>
            <a:pPr marL="0" indent="0">
              <a:buNone/>
            </a:pPr>
            <a:r>
              <a:rPr lang="en-US" sz="1250" i="1" dirty="0">
                <a:solidFill>
                  <a:srgbClr val="5C6B73"/>
                </a:solidFill>
                <a:latin typeface="Calibri" pitchFamily="34" charset="0"/>
                <a:ea typeface="Calibri" pitchFamily="34" charset="-122"/>
                <a:cs typeface="Calibri" pitchFamily="34" charset="-120"/>
              </a:rPr>
              <a:t>Split was fixed with a random seed (seed = 42) so results are reproducible.</a:t>
            </a:r>
            <a:endParaRPr lang="en-US" sz="1250" dirty="0"/>
          </a:p>
        </p:txBody>
      </p:sp>
      <p:sp>
        <p:nvSpPr>
          <p:cNvPr id="18" name="Text 15"/>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a:t>
            </a:r>
            <a:endParaRPr lang="en-US" sz="900" dirty="0"/>
          </a:p>
        </p:txBody>
      </p:sp>
      <p:sp>
        <p:nvSpPr>
          <p:cNvPr id="19" name="Text 16"/>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Every Model Built in this project</a:t>
            </a:r>
            <a:endParaRPr lang="en-US" sz="3000" dirty="0"/>
          </a:p>
        </p:txBody>
      </p:sp>
      <p:sp>
        <p:nvSpPr>
          <p:cNvPr id="4" name="Shape 2"/>
          <p:cNvSpPr/>
          <p:nvPr/>
        </p:nvSpPr>
        <p:spPr>
          <a:xfrm>
            <a:off x="502920" y="1554480"/>
            <a:ext cx="457200" cy="457200"/>
          </a:xfrm>
          <a:prstGeom prst="ellipse">
            <a:avLst/>
          </a:prstGeom>
          <a:solidFill>
            <a:srgbClr val="065A82"/>
          </a:solidFill>
          <a:ln/>
        </p:spPr>
        <p:txBody>
          <a:bodyPr/>
          <a:lstStyle/>
          <a:p>
            <a:endParaRPr lang="en-US"/>
          </a:p>
        </p:txBody>
      </p:sp>
      <p:sp>
        <p:nvSpPr>
          <p:cNvPr id="5" name="Text 3"/>
          <p:cNvSpPr/>
          <p:nvPr/>
        </p:nvSpPr>
        <p:spPr>
          <a:xfrm>
            <a:off x="502920" y="155448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097280" y="1481328"/>
            <a:ext cx="4846320" cy="347472"/>
          </a:xfrm>
          <a:prstGeom prst="rect">
            <a:avLst/>
          </a:prstGeom>
          <a:noFill/>
          <a:ln/>
        </p:spPr>
        <p:txBody>
          <a:bodyPr wrap="square" rtlCol="0" anchor="ctr"/>
          <a:lstStyle/>
          <a:p>
            <a:pPr marL="0" indent="0">
              <a:buNone/>
            </a:pPr>
            <a:r>
              <a:rPr lang="en-US" sz="1350" b="1" dirty="0">
                <a:solidFill>
                  <a:srgbClr val="1B263B"/>
                </a:solidFill>
                <a:latin typeface="Calibri" pitchFamily="34" charset="0"/>
                <a:ea typeface="Calibri" pitchFamily="34" charset="-122"/>
                <a:cs typeface="Calibri" pitchFamily="34" charset="-120"/>
              </a:rPr>
              <a:t>Base Multi-Task U-Net</a:t>
            </a:r>
            <a:endParaRPr lang="en-US" sz="1350" dirty="0"/>
          </a:p>
        </p:txBody>
      </p:sp>
      <p:sp>
        <p:nvSpPr>
          <p:cNvPr id="7" name="Text 5"/>
          <p:cNvSpPr/>
          <p:nvPr/>
        </p:nvSpPr>
        <p:spPr>
          <a:xfrm>
            <a:off x="1097280" y="1819656"/>
            <a:ext cx="4846320" cy="502920"/>
          </a:xfrm>
          <a:prstGeom prst="rect">
            <a:avLst/>
          </a:prstGeom>
          <a:noFill/>
          <a:ln/>
        </p:spPr>
        <p:txBody>
          <a:bodyPr wrap="square" rtlCol="0" anchor="t"/>
          <a:lstStyle/>
          <a:p>
            <a:pPr marL="0" indent="0">
              <a:buNone/>
            </a:pPr>
            <a:r>
              <a:rPr lang="en-US" sz="1100" dirty="0">
                <a:solidFill>
                  <a:srgbClr val="5C6B73"/>
                </a:solidFill>
                <a:latin typeface="Calibri" pitchFamily="34" charset="0"/>
                <a:ea typeface="Calibri" pitchFamily="34" charset="-122"/>
                <a:cs typeface="Calibri" pitchFamily="34" charset="-120"/>
              </a:rPr>
              <a:t>The main model — plain U-Net encoder/decoder + a classifier head on the bottleneck. Trained 15 epochs.</a:t>
            </a:r>
            <a:endParaRPr lang="en-US" sz="1100" dirty="0"/>
          </a:p>
        </p:txBody>
      </p:sp>
      <p:sp>
        <p:nvSpPr>
          <p:cNvPr id="8" name="Shape 6"/>
          <p:cNvSpPr/>
          <p:nvPr/>
        </p:nvSpPr>
        <p:spPr>
          <a:xfrm>
            <a:off x="502920" y="2450592"/>
            <a:ext cx="457200" cy="457200"/>
          </a:xfrm>
          <a:prstGeom prst="ellipse">
            <a:avLst/>
          </a:prstGeom>
          <a:solidFill>
            <a:srgbClr val="065A82"/>
          </a:solidFill>
          <a:ln/>
        </p:spPr>
        <p:txBody>
          <a:bodyPr/>
          <a:lstStyle/>
          <a:p>
            <a:endParaRPr lang="en-US"/>
          </a:p>
        </p:txBody>
      </p:sp>
      <p:sp>
        <p:nvSpPr>
          <p:cNvPr id="9" name="Text 7"/>
          <p:cNvSpPr/>
          <p:nvPr/>
        </p:nvSpPr>
        <p:spPr>
          <a:xfrm>
            <a:off x="502920" y="245059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097280" y="2377440"/>
            <a:ext cx="4846320" cy="347472"/>
          </a:xfrm>
          <a:prstGeom prst="rect">
            <a:avLst/>
          </a:prstGeom>
          <a:noFill/>
          <a:ln/>
        </p:spPr>
        <p:txBody>
          <a:bodyPr wrap="square" rtlCol="0" anchor="ctr"/>
          <a:lstStyle/>
          <a:p>
            <a:pPr marL="0" indent="0">
              <a:buNone/>
            </a:pPr>
            <a:r>
              <a:rPr lang="en-US" sz="1350" b="1" dirty="0">
                <a:solidFill>
                  <a:srgbClr val="1B263B"/>
                </a:solidFill>
                <a:latin typeface="Calibri" pitchFamily="34" charset="0"/>
                <a:ea typeface="Calibri" pitchFamily="34" charset="-122"/>
                <a:cs typeface="Calibri" pitchFamily="34" charset="-120"/>
              </a:rPr>
              <a:t>Multi-Task Attention U-Net</a:t>
            </a:r>
            <a:endParaRPr lang="en-US" sz="1350" dirty="0"/>
          </a:p>
        </p:txBody>
      </p:sp>
      <p:sp>
        <p:nvSpPr>
          <p:cNvPr id="11" name="Text 9"/>
          <p:cNvSpPr/>
          <p:nvPr/>
        </p:nvSpPr>
        <p:spPr>
          <a:xfrm>
            <a:off x="1097280" y="2715768"/>
            <a:ext cx="4846320" cy="502920"/>
          </a:xfrm>
          <a:prstGeom prst="rect">
            <a:avLst/>
          </a:prstGeom>
          <a:noFill/>
          <a:ln/>
        </p:spPr>
        <p:txBody>
          <a:bodyPr wrap="square" rtlCol="0" anchor="t"/>
          <a:lstStyle/>
          <a:p>
            <a:pPr marL="0" indent="0">
              <a:buNone/>
            </a:pPr>
            <a:r>
              <a:rPr lang="en-US" sz="1100" dirty="0">
                <a:solidFill>
                  <a:srgbClr val="5C6B73"/>
                </a:solidFill>
                <a:latin typeface="Calibri" pitchFamily="34" charset="0"/>
                <a:ea typeface="Calibri" pitchFamily="34" charset="-122"/>
                <a:cs typeface="Calibri" pitchFamily="34" charset="-120"/>
              </a:rPr>
              <a:t>Same idea, but with attention gates added to the skip connections.</a:t>
            </a:r>
            <a:endParaRPr lang="en-US" sz="1100" dirty="0"/>
          </a:p>
        </p:txBody>
      </p:sp>
      <p:sp>
        <p:nvSpPr>
          <p:cNvPr id="12" name="Shape 10"/>
          <p:cNvSpPr/>
          <p:nvPr/>
        </p:nvSpPr>
        <p:spPr>
          <a:xfrm>
            <a:off x="502920" y="3346704"/>
            <a:ext cx="457200" cy="457200"/>
          </a:xfrm>
          <a:prstGeom prst="ellipse">
            <a:avLst/>
          </a:prstGeom>
          <a:solidFill>
            <a:srgbClr val="065A82"/>
          </a:solidFill>
          <a:ln/>
        </p:spPr>
        <p:txBody>
          <a:bodyPr/>
          <a:lstStyle/>
          <a:p>
            <a:endParaRPr lang="en-US"/>
          </a:p>
        </p:txBody>
      </p:sp>
      <p:sp>
        <p:nvSpPr>
          <p:cNvPr id="13" name="Text 11"/>
          <p:cNvSpPr/>
          <p:nvPr/>
        </p:nvSpPr>
        <p:spPr>
          <a:xfrm>
            <a:off x="502920" y="334670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097280" y="3273552"/>
            <a:ext cx="4846320" cy="347472"/>
          </a:xfrm>
          <a:prstGeom prst="rect">
            <a:avLst/>
          </a:prstGeom>
          <a:noFill/>
          <a:ln/>
        </p:spPr>
        <p:txBody>
          <a:bodyPr wrap="square" rtlCol="0" anchor="ctr"/>
          <a:lstStyle/>
          <a:p>
            <a:pPr marL="0" indent="0">
              <a:buNone/>
            </a:pPr>
            <a:r>
              <a:rPr lang="en-US" sz="1350" b="1" dirty="0">
                <a:solidFill>
                  <a:srgbClr val="1B263B"/>
                </a:solidFill>
                <a:latin typeface="Calibri" pitchFamily="34" charset="0"/>
                <a:ea typeface="Calibri" pitchFamily="34" charset="-122"/>
                <a:cs typeface="Calibri" pitchFamily="34" charset="-120"/>
              </a:rPr>
              <a:t>Bonus 1 — Pretrained Backbones</a:t>
            </a:r>
            <a:endParaRPr lang="en-US" sz="1350" dirty="0"/>
          </a:p>
        </p:txBody>
      </p:sp>
      <p:sp>
        <p:nvSpPr>
          <p:cNvPr id="15" name="Text 13"/>
          <p:cNvSpPr/>
          <p:nvPr/>
        </p:nvSpPr>
        <p:spPr>
          <a:xfrm>
            <a:off x="1097280" y="3611880"/>
            <a:ext cx="4846320" cy="502920"/>
          </a:xfrm>
          <a:prstGeom prst="rect">
            <a:avLst/>
          </a:prstGeom>
          <a:noFill/>
          <a:ln/>
        </p:spPr>
        <p:txBody>
          <a:bodyPr wrap="square" rtlCol="0" anchor="t"/>
          <a:lstStyle/>
          <a:p>
            <a:pPr marL="0" indent="0">
              <a:buNone/>
            </a:pPr>
            <a:r>
              <a:rPr lang="en-US" sz="1100" dirty="0">
                <a:solidFill>
                  <a:srgbClr val="5C6B73"/>
                </a:solidFill>
                <a:latin typeface="Calibri" pitchFamily="34" charset="0"/>
                <a:ea typeface="Calibri" pitchFamily="34" charset="-122"/>
                <a:cs typeface="Calibri" pitchFamily="34" charset="-120"/>
              </a:rPr>
              <a:t>Swapped the classifier for MobileNetV3, DenseNet121, and EfficientNet-B0.</a:t>
            </a:r>
            <a:endParaRPr lang="en-US" sz="1100" dirty="0"/>
          </a:p>
        </p:txBody>
      </p:sp>
      <p:sp>
        <p:nvSpPr>
          <p:cNvPr id="16" name="Shape 14"/>
          <p:cNvSpPr/>
          <p:nvPr/>
        </p:nvSpPr>
        <p:spPr>
          <a:xfrm>
            <a:off x="502920" y="4242816"/>
            <a:ext cx="457200" cy="457200"/>
          </a:xfrm>
          <a:prstGeom prst="ellipse">
            <a:avLst/>
          </a:prstGeom>
          <a:solidFill>
            <a:srgbClr val="065A82"/>
          </a:solidFill>
          <a:ln/>
        </p:spPr>
        <p:txBody>
          <a:bodyPr/>
          <a:lstStyle/>
          <a:p>
            <a:endParaRPr lang="en-US"/>
          </a:p>
        </p:txBody>
      </p:sp>
      <p:sp>
        <p:nvSpPr>
          <p:cNvPr id="17" name="Text 15"/>
          <p:cNvSpPr/>
          <p:nvPr/>
        </p:nvSpPr>
        <p:spPr>
          <a:xfrm>
            <a:off x="502920" y="4242816"/>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097280" y="4169664"/>
            <a:ext cx="4846320" cy="347472"/>
          </a:xfrm>
          <a:prstGeom prst="rect">
            <a:avLst/>
          </a:prstGeom>
          <a:noFill/>
          <a:ln/>
        </p:spPr>
        <p:txBody>
          <a:bodyPr wrap="square" rtlCol="0" anchor="ctr"/>
          <a:lstStyle/>
          <a:p>
            <a:pPr marL="0" indent="0">
              <a:buNone/>
            </a:pPr>
            <a:r>
              <a:rPr lang="en-US" sz="1350" b="1" dirty="0">
                <a:solidFill>
                  <a:srgbClr val="1B263B"/>
                </a:solidFill>
                <a:latin typeface="Calibri" pitchFamily="34" charset="0"/>
                <a:ea typeface="Calibri" pitchFamily="34" charset="-122"/>
                <a:cs typeface="Calibri" pitchFamily="34" charset="-120"/>
              </a:rPr>
              <a:t>Bonus 2 — Loss Function Shootout</a:t>
            </a:r>
            <a:endParaRPr lang="en-US" sz="1350" dirty="0"/>
          </a:p>
        </p:txBody>
      </p:sp>
      <p:sp>
        <p:nvSpPr>
          <p:cNvPr id="19" name="Text 17"/>
          <p:cNvSpPr/>
          <p:nvPr/>
        </p:nvSpPr>
        <p:spPr>
          <a:xfrm>
            <a:off x="1097280" y="4507992"/>
            <a:ext cx="4846320" cy="502920"/>
          </a:xfrm>
          <a:prstGeom prst="rect">
            <a:avLst/>
          </a:prstGeom>
          <a:noFill/>
          <a:ln/>
        </p:spPr>
        <p:txBody>
          <a:bodyPr wrap="square" rtlCol="0" anchor="t"/>
          <a:lstStyle/>
          <a:p>
            <a:pPr marL="0" indent="0">
              <a:buNone/>
            </a:pPr>
            <a:r>
              <a:rPr lang="en-US" sz="1100" dirty="0">
                <a:solidFill>
                  <a:srgbClr val="5C6B73"/>
                </a:solidFill>
                <a:latin typeface="Calibri" pitchFamily="34" charset="0"/>
                <a:ea typeface="Calibri" pitchFamily="34" charset="-122"/>
                <a:cs typeface="Calibri" pitchFamily="34" charset="-120"/>
              </a:rPr>
              <a:t>Re-trained with Dice Loss, Focal Loss, and a Combo (Dice + Focal) Loss.</a:t>
            </a:r>
            <a:endParaRPr lang="en-US" sz="1100" dirty="0"/>
          </a:p>
        </p:txBody>
      </p:sp>
      <p:sp>
        <p:nvSpPr>
          <p:cNvPr id="20" name="Shape 18"/>
          <p:cNvSpPr/>
          <p:nvPr/>
        </p:nvSpPr>
        <p:spPr>
          <a:xfrm>
            <a:off x="6217920" y="1554480"/>
            <a:ext cx="457200" cy="457200"/>
          </a:xfrm>
          <a:prstGeom prst="ellipse">
            <a:avLst/>
          </a:prstGeom>
          <a:solidFill>
            <a:srgbClr val="065A82"/>
          </a:solidFill>
          <a:ln/>
        </p:spPr>
        <p:txBody>
          <a:bodyPr/>
          <a:lstStyle/>
          <a:p>
            <a:endParaRPr lang="en-US"/>
          </a:p>
        </p:txBody>
      </p:sp>
      <p:sp>
        <p:nvSpPr>
          <p:cNvPr id="21" name="Text 19"/>
          <p:cNvSpPr/>
          <p:nvPr/>
        </p:nvSpPr>
        <p:spPr>
          <a:xfrm>
            <a:off x="6217920" y="155448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p:nvPr/>
        </p:nvSpPr>
        <p:spPr>
          <a:xfrm>
            <a:off x="6812280" y="1481328"/>
            <a:ext cx="4846320" cy="347472"/>
          </a:xfrm>
          <a:prstGeom prst="rect">
            <a:avLst/>
          </a:prstGeom>
          <a:noFill/>
          <a:ln/>
        </p:spPr>
        <p:txBody>
          <a:bodyPr wrap="square" rtlCol="0" anchor="ctr"/>
          <a:lstStyle/>
          <a:p>
            <a:pPr marL="0" indent="0">
              <a:buNone/>
            </a:pPr>
            <a:r>
              <a:rPr lang="en-US" sz="1350" b="1" dirty="0">
                <a:solidFill>
                  <a:srgbClr val="1B263B"/>
                </a:solidFill>
                <a:latin typeface="Calibri" pitchFamily="34" charset="0"/>
                <a:ea typeface="Calibri" pitchFamily="34" charset="-122"/>
                <a:cs typeface="Calibri" pitchFamily="34" charset="-120"/>
              </a:rPr>
              <a:t>Bonus 3 — Standalone Attention U-Net</a:t>
            </a:r>
            <a:endParaRPr lang="en-US" sz="1350" dirty="0"/>
          </a:p>
        </p:txBody>
      </p:sp>
      <p:sp>
        <p:nvSpPr>
          <p:cNvPr id="23" name="Text 21"/>
          <p:cNvSpPr/>
          <p:nvPr/>
        </p:nvSpPr>
        <p:spPr>
          <a:xfrm>
            <a:off x="6812280" y="1819656"/>
            <a:ext cx="4846320" cy="502920"/>
          </a:xfrm>
          <a:prstGeom prst="rect">
            <a:avLst/>
          </a:prstGeom>
          <a:noFill/>
          <a:ln/>
        </p:spPr>
        <p:txBody>
          <a:bodyPr wrap="square" rtlCol="0" anchor="t"/>
          <a:lstStyle/>
          <a:p>
            <a:pPr marL="0" indent="0">
              <a:buNone/>
            </a:pPr>
            <a:r>
              <a:rPr lang="en-US" sz="1100" dirty="0">
                <a:solidFill>
                  <a:srgbClr val="5C6B73"/>
                </a:solidFill>
                <a:latin typeface="Calibri" pitchFamily="34" charset="0"/>
                <a:ea typeface="Calibri" pitchFamily="34" charset="-122"/>
                <a:cs typeface="Calibri" pitchFamily="34" charset="-120"/>
              </a:rPr>
              <a:t>Attention U-Net trained fresh for 3 epochs, evaluated on the test set.</a:t>
            </a:r>
            <a:endParaRPr lang="en-US" sz="1100" dirty="0"/>
          </a:p>
        </p:txBody>
      </p:sp>
      <p:sp>
        <p:nvSpPr>
          <p:cNvPr id="24" name="Shape 22"/>
          <p:cNvSpPr/>
          <p:nvPr/>
        </p:nvSpPr>
        <p:spPr>
          <a:xfrm>
            <a:off x="6217920" y="2450592"/>
            <a:ext cx="457200" cy="457200"/>
          </a:xfrm>
          <a:prstGeom prst="ellipse">
            <a:avLst/>
          </a:prstGeom>
          <a:solidFill>
            <a:srgbClr val="065A82"/>
          </a:solidFill>
          <a:ln/>
        </p:spPr>
        <p:txBody>
          <a:bodyPr/>
          <a:lstStyle/>
          <a:p>
            <a:endParaRPr lang="en-US"/>
          </a:p>
        </p:txBody>
      </p:sp>
      <p:sp>
        <p:nvSpPr>
          <p:cNvPr id="25" name="Text 23"/>
          <p:cNvSpPr/>
          <p:nvPr/>
        </p:nvSpPr>
        <p:spPr>
          <a:xfrm>
            <a:off x="6217920" y="245059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p:nvPr/>
        </p:nvSpPr>
        <p:spPr>
          <a:xfrm>
            <a:off x="6812280" y="2377440"/>
            <a:ext cx="4846320" cy="347472"/>
          </a:xfrm>
          <a:prstGeom prst="rect">
            <a:avLst/>
          </a:prstGeom>
          <a:noFill/>
          <a:ln/>
        </p:spPr>
        <p:txBody>
          <a:bodyPr wrap="square" rtlCol="0" anchor="ctr"/>
          <a:lstStyle/>
          <a:p>
            <a:pPr marL="0" indent="0">
              <a:buNone/>
            </a:pPr>
            <a:r>
              <a:rPr lang="en-US" sz="1350" b="1" dirty="0">
                <a:solidFill>
                  <a:srgbClr val="1B263B"/>
                </a:solidFill>
                <a:latin typeface="Calibri" pitchFamily="34" charset="0"/>
                <a:ea typeface="Calibri" pitchFamily="34" charset="-122"/>
                <a:cs typeface="Calibri" pitchFamily="34" charset="-120"/>
              </a:rPr>
              <a:t>Bonus 4 — Fast BiFPN U-Net</a:t>
            </a:r>
            <a:endParaRPr lang="en-US" sz="1350" dirty="0"/>
          </a:p>
        </p:txBody>
      </p:sp>
      <p:sp>
        <p:nvSpPr>
          <p:cNvPr id="27" name="Text 25"/>
          <p:cNvSpPr/>
          <p:nvPr/>
        </p:nvSpPr>
        <p:spPr>
          <a:xfrm>
            <a:off x="6812280" y="2715768"/>
            <a:ext cx="4846320" cy="502920"/>
          </a:xfrm>
          <a:prstGeom prst="rect">
            <a:avLst/>
          </a:prstGeom>
          <a:noFill/>
          <a:ln/>
        </p:spPr>
        <p:txBody>
          <a:bodyPr wrap="square" rtlCol="0" anchor="t"/>
          <a:lstStyle/>
          <a:p>
            <a:pPr marL="0" indent="0">
              <a:buNone/>
            </a:pPr>
            <a:r>
              <a:rPr lang="en-US" sz="1100" dirty="0">
                <a:solidFill>
                  <a:srgbClr val="5C6B73"/>
                </a:solidFill>
                <a:latin typeface="Calibri" pitchFamily="34" charset="0"/>
                <a:ea typeface="Calibri" pitchFamily="34" charset="-122"/>
                <a:cs typeface="Calibri" pitchFamily="34" charset="-120"/>
              </a:rPr>
              <a:t>A lightweight bi-directional feature pyramid decoder instead of a plain decoder.</a:t>
            </a:r>
            <a:endParaRPr lang="en-US" sz="1100" dirty="0"/>
          </a:p>
        </p:txBody>
      </p:sp>
      <p:sp>
        <p:nvSpPr>
          <p:cNvPr id="28" name="Shape 26"/>
          <p:cNvSpPr/>
          <p:nvPr/>
        </p:nvSpPr>
        <p:spPr>
          <a:xfrm>
            <a:off x="6217920" y="3346704"/>
            <a:ext cx="457200" cy="457200"/>
          </a:xfrm>
          <a:prstGeom prst="ellipse">
            <a:avLst/>
          </a:prstGeom>
          <a:solidFill>
            <a:srgbClr val="065A82"/>
          </a:solidFill>
          <a:ln/>
        </p:spPr>
        <p:txBody>
          <a:bodyPr/>
          <a:lstStyle/>
          <a:p>
            <a:endParaRPr lang="en-US"/>
          </a:p>
        </p:txBody>
      </p:sp>
      <p:sp>
        <p:nvSpPr>
          <p:cNvPr id="29" name="Text 27"/>
          <p:cNvSpPr/>
          <p:nvPr/>
        </p:nvSpPr>
        <p:spPr>
          <a:xfrm>
            <a:off x="6217920" y="334670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0" name="Text 28"/>
          <p:cNvSpPr/>
          <p:nvPr/>
        </p:nvSpPr>
        <p:spPr>
          <a:xfrm>
            <a:off x="6812280" y="3273552"/>
            <a:ext cx="4846320" cy="347472"/>
          </a:xfrm>
          <a:prstGeom prst="rect">
            <a:avLst/>
          </a:prstGeom>
          <a:noFill/>
          <a:ln/>
        </p:spPr>
        <p:txBody>
          <a:bodyPr wrap="square" rtlCol="0" anchor="ctr"/>
          <a:lstStyle/>
          <a:p>
            <a:pPr marL="0" indent="0">
              <a:buNone/>
            </a:pPr>
            <a:r>
              <a:rPr lang="en-US" sz="1350" b="1" dirty="0">
                <a:solidFill>
                  <a:srgbClr val="1B263B"/>
                </a:solidFill>
                <a:latin typeface="Calibri" pitchFamily="34" charset="0"/>
                <a:ea typeface="Calibri" pitchFamily="34" charset="-122"/>
                <a:cs typeface="Calibri" pitchFamily="34" charset="-120"/>
              </a:rPr>
              <a:t>Bonus 5 — EfficientDet-style BiFPN U-Net</a:t>
            </a:r>
            <a:endParaRPr lang="en-US" sz="1350" dirty="0"/>
          </a:p>
        </p:txBody>
      </p:sp>
      <p:sp>
        <p:nvSpPr>
          <p:cNvPr id="31" name="Text 29"/>
          <p:cNvSpPr/>
          <p:nvPr/>
        </p:nvSpPr>
        <p:spPr>
          <a:xfrm>
            <a:off x="6812280" y="3611880"/>
            <a:ext cx="4846320" cy="502920"/>
          </a:xfrm>
          <a:prstGeom prst="rect">
            <a:avLst/>
          </a:prstGeom>
          <a:noFill/>
          <a:ln/>
        </p:spPr>
        <p:txBody>
          <a:bodyPr wrap="square" rtlCol="0" anchor="t"/>
          <a:lstStyle/>
          <a:p>
            <a:pPr marL="0" indent="0">
              <a:buNone/>
            </a:pPr>
            <a:r>
              <a:rPr lang="en-US" sz="1100" dirty="0">
                <a:solidFill>
                  <a:srgbClr val="5C6B73"/>
                </a:solidFill>
                <a:latin typeface="Calibri" pitchFamily="34" charset="0"/>
                <a:ea typeface="Calibri" pitchFamily="34" charset="-122"/>
                <a:cs typeface="Calibri" pitchFamily="34" charset="-120"/>
              </a:rPr>
              <a:t>A fuller BiFPN layer (top-down + bottom-up fusion across 3 scales).</a:t>
            </a:r>
            <a:endParaRPr lang="en-US" sz="1100" dirty="0"/>
          </a:p>
        </p:txBody>
      </p:sp>
      <p:sp>
        <p:nvSpPr>
          <p:cNvPr id="32" name="Text 30"/>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a:t>
            </a:r>
            <a:endParaRPr lang="en-US" sz="900" dirty="0"/>
          </a:p>
        </p:txBody>
      </p:sp>
      <p:sp>
        <p:nvSpPr>
          <p:cNvPr id="33" name="Text 31"/>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BASE MULTI-TASK U-NET</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Training Progress Over 15 Epochs</a:t>
            </a:r>
            <a:endParaRPr lang="en-US" sz="3000" dirty="0"/>
          </a:p>
        </p:txBody>
      </p:sp>
      <p:graphicFrame>
        <p:nvGraphicFramePr>
          <p:cNvPr id="4" name="Chart 0"/>
          <p:cNvGraphicFramePr/>
          <p:nvPr/>
        </p:nvGraphicFramePr>
        <p:xfrm>
          <a:off x="502920" y="1417320"/>
          <a:ext cx="5440680" cy="3246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17920" y="1417320"/>
          <a:ext cx="544068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p:nvPr/>
        </p:nvSpPr>
        <p:spPr>
          <a:xfrm>
            <a:off x="502920" y="4846320"/>
            <a:ext cx="11155680" cy="411480"/>
          </a:xfrm>
          <a:prstGeom prst="rect">
            <a:avLst/>
          </a:prstGeom>
          <a:noFill/>
          <a:ln/>
        </p:spPr>
        <p:txBody>
          <a:bodyPr wrap="square" rtlCol="0" anchor="ctr"/>
          <a:lstStyle/>
          <a:p>
            <a:pPr marL="0" indent="0" algn="ctr">
              <a:buNone/>
            </a:pPr>
            <a:r>
              <a:rPr lang="en-US" sz="1250" b="1" dirty="0">
                <a:solidFill>
                  <a:srgbClr val="065A82"/>
                </a:solidFill>
                <a:latin typeface="Calibri" pitchFamily="34" charset="0"/>
                <a:ea typeface="Calibri" pitchFamily="34" charset="-122"/>
                <a:cs typeface="Calibri" pitchFamily="34" charset="-120"/>
              </a:rPr>
              <a:t>Epoch 1 -&gt; Epoch 15:   Train mIoU 41.01% -&gt; 76.18%     |     Val mIoU 41.01% -&gt; 75.96%     |     Val Cls Acc 6.77% -&gt; 32.22%</a:t>
            </a:r>
            <a:endParaRPr lang="en-US" sz="1250" dirty="0"/>
          </a:p>
        </p:txBody>
      </p:sp>
      <p:sp>
        <p:nvSpPr>
          <p:cNvPr id="7" name="Text 3"/>
          <p:cNvSpPr/>
          <p:nvPr/>
        </p:nvSpPr>
        <p:spPr>
          <a:xfrm>
            <a:off x="502920" y="5257800"/>
            <a:ext cx="11155680" cy="365760"/>
          </a:xfrm>
          <a:prstGeom prst="rect">
            <a:avLst/>
          </a:prstGeom>
          <a:noFill/>
          <a:ln/>
        </p:spPr>
        <p:txBody>
          <a:bodyPr wrap="square" rtlCol="0" anchor="ctr"/>
          <a:lstStyle/>
          <a:p>
            <a:pPr marL="0" indent="0" algn="ctr">
              <a:buNone/>
            </a:pPr>
            <a:r>
              <a:rPr lang="en-US" sz="1200" i="1" dirty="0">
                <a:solidFill>
                  <a:srgbClr val="5C6B73"/>
                </a:solidFill>
                <a:latin typeface="Calibri" pitchFamily="34" charset="0"/>
                <a:ea typeface="Calibri" pitchFamily="34" charset="-122"/>
                <a:cs typeface="Calibri" pitchFamily="34" charset="-120"/>
              </a:rPr>
              <a:t>Segmentation improved fast and stayed strong; classification accuracy climbed much more slowly.</a:t>
            </a:r>
            <a:endParaRPr lang="en-US" sz="1200" dirty="0"/>
          </a:p>
        </p:txBody>
      </p:sp>
      <p:sp>
        <p:nvSpPr>
          <p:cNvPr id="8" name="Text 4"/>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 — Base Model</a:t>
            </a:r>
            <a:endParaRPr lang="en-US" sz="900" dirty="0"/>
          </a:p>
        </p:txBody>
      </p:sp>
      <p:sp>
        <p:nvSpPr>
          <p:cNvPr id="9" name="Text 5"/>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BASE MULTI-TASK U-NET</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Final Results — Train vs. Validation vs. Test</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55680" cy="3657600"/>
        </p:xfrm>
        <a:graphic>
          <a:graphicData uri="http://schemas.openxmlformats.org/drawingml/2006/table">
            <a:tbl>
              <a:tblPr/>
              <a:tblGrid>
                <a:gridCol w="3840480">
                  <a:extLst>
                    <a:ext uri="{9D8B030D-6E8A-4147-A177-3AD203B41FA5}">
                      <a16:colId xmlns:a16="http://schemas.microsoft.com/office/drawing/2014/main" val="20000"/>
                    </a:ext>
                  </a:extLst>
                </a:gridCol>
                <a:gridCol w="2438705">
                  <a:extLst>
                    <a:ext uri="{9D8B030D-6E8A-4147-A177-3AD203B41FA5}">
                      <a16:colId xmlns:a16="http://schemas.microsoft.com/office/drawing/2014/main" val="20001"/>
                    </a:ext>
                  </a:extLst>
                </a:gridCol>
                <a:gridCol w="2438705">
                  <a:extLst>
                    <a:ext uri="{9D8B030D-6E8A-4147-A177-3AD203B41FA5}">
                      <a16:colId xmlns:a16="http://schemas.microsoft.com/office/drawing/2014/main" val="20002"/>
                    </a:ext>
                  </a:extLst>
                </a:gridCol>
                <a:gridCol w="2437790">
                  <a:extLst>
                    <a:ext uri="{9D8B030D-6E8A-4147-A177-3AD203B41FA5}">
                      <a16:colId xmlns:a16="http://schemas.microsoft.com/office/drawing/2014/main" val="20003"/>
                    </a:ext>
                  </a:extLst>
                </a:gridCol>
              </a:tblGrid>
              <a:tr h="36576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Metric</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Train</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Validation</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Test</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65760">
                <a:tc gridSpan="4">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SEGMENTATION</a:t>
                      </a:r>
                      <a:endParaRPr lang="en-US" sz="11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1C729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5760">
                <a:tc>
                  <a:txBody>
                    <a:bodyPr/>
                    <a:lstStyle/>
                    <a:p>
                      <a:pPr marL="0" indent="0" algn="l">
                        <a:buNone/>
                      </a:pPr>
                      <a:r>
                        <a:rPr lang="en-US" sz="1250" b="1" dirty="0">
                          <a:solidFill>
                            <a:srgbClr val="1B263B"/>
                          </a:solidFill>
                          <a:latin typeface="Calibri" pitchFamily="34" charset="0"/>
                          <a:ea typeface="Calibri" pitchFamily="34" charset="-122"/>
                          <a:cs typeface="Calibri" pitchFamily="34" charset="-120"/>
                        </a:rPr>
                        <a:t>mIoU (%)</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76.18%</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75.96%</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evaluated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250" b="1" dirty="0">
                          <a:solidFill>
                            <a:srgbClr val="1B263B"/>
                          </a:solidFill>
                          <a:latin typeface="Calibri" pitchFamily="34" charset="0"/>
                          <a:ea typeface="Calibri" pitchFamily="34" charset="-122"/>
                          <a:cs typeface="Calibri" pitchFamily="34" charset="-120"/>
                        </a:rPr>
                        <a:t>Dice Coefficient</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computed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0.8532</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evaluated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3"/>
                  </a:ext>
                </a:extLst>
              </a:tr>
              <a:tr h="365760">
                <a:tc>
                  <a:txBody>
                    <a:bodyPr/>
                    <a:lstStyle/>
                    <a:p>
                      <a:pPr marL="0" indent="0" algn="l">
                        <a:buNone/>
                      </a:pPr>
                      <a:r>
                        <a:rPr lang="en-US" sz="1250" b="1" dirty="0">
                          <a:solidFill>
                            <a:srgbClr val="1B263B"/>
                          </a:solidFill>
                          <a:latin typeface="Calibri" pitchFamily="34" charset="0"/>
                          <a:ea typeface="Calibri" pitchFamily="34" charset="-122"/>
                          <a:cs typeface="Calibri" pitchFamily="34" charset="-120"/>
                        </a:rPr>
                        <a:t>Pixel Accuracy (%)</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computed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89.29%</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evaluated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gridSpan="4">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CLASSIFICATION</a:t>
                      </a:r>
                      <a:endParaRPr lang="en-US" sz="11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1C729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65760">
                <a:tc>
                  <a:txBody>
                    <a:bodyPr/>
                    <a:lstStyle/>
                    <a:p>
                      <a:pPr marL="0" indent="0" algn="l">
                        <a:buNone/>
                      </a:pPr>
                      <a:r>
                        <a:rPr lang="en-US" sz="1250" b="1" dirty="0">
                          <a:solidFill>
                            <a:srgbClr val="1B263B"/>
                          </a:solidFill>
                          <a:latin typeface="Calibri" pitchFamily="34" charset="0"/>
                          <a:ea typeface="Calibri" pitchFamily="34" charset="-122"/>
                          <a:cs typeface="Calibri" pitchFamily="34" charset="-120"/>
                        </a:rPr>
                        <a:t>Accuracy (%)</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printed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32.22%</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evaluated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250" b="1" dirty="0">
                          <a:solidFill>
                            <a:srgbClr val="1B263B"/>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computed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0.3876</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evaluated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7"/>
                  </a:ext>
                </a:extLst>
              </a:tr>
              <a:tr h="365760">
                <a:tc>
                  <a:txBody>
                    <a:bodyPr/>
                    <a:lstStyle/>
                    <a:p>
                      <a:pPr marL="0" indent="0" algn="l">
                        <a:buNone/>
                      </a:pPr>
                      <a:r>
                        <a:rPr lang="en-US" sz="1250" b="1" dirty="0">
                          <a:solidFill>
                            <a:srgbClr val="1B263B"/>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computed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0.3222</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evaluated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lgn="l">
                        <a:buNone/>
                      </a:pPr>
                      <a:r>
                        <a:rPr lang="en-US" sz="1250" b="1" dirty="0">
                          <a:solidFill>
                            <a:srgbClr val="1B263B"/>
                          </a:solidFill>
                          <a:latin typeface="Calibri" pitchFamily="34" charset="0"/>
                          <a:ea typeface="Calibri" pitchFamily="34" charset="-122"/>
                          <a:cs typeface="Calibri" pitchFamily="34" charset="-120"/>
                        </a:rPr>
                        <a:t>F1 Score</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computed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0.3017</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250" dirty="0">
                          <a:solidFill>
                            <a:srgbClr val="1B263B"/>
                          </a:solidFill>
                          <a:latin typeface="Calibri" pitchFamily="34" charset="0"/>
                          <a:ea typeface="Calibri" pitchFamily="34" charset="-122"/>
                          <a:cs typeface="Calibri" pitchFamily="34" charset="-120"/>
                        </a:rPr>
                        <a:t>Not evaluated</a:t>
                      </a:r>
                      <a:endParaRPr lang="en-US" sz="12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9"/>
                  </a:ext>
                </a:extLst>
              </a:tr>
            </a:tbl>
          </a:graphicData>
        </a:graphic>
      </p:graphicFrame>
      <p:sp>
        <p:nvSpPr>
          <p:cNvPr id="5" name="Shape 2"/>
          <p:cNvSpPr/>
          <p:nvPr/>
        </p:nvSpPr>
        <p:spPr>
          <a:xfrm>
            <a:off x="502920" y="5440680"/>
            <a:ext cx="11155680" cy="685800"/>
          </a:xfrm>
          <a:prstGeom prst="roundRect">
            <a:avLst>
              <a:gd name="adj" fmla="val 8000"/>
            </a:avLst>
          </a:prstGeom>
          <a:solidFill>
            <a:srgbClr val="FDF3E7"/>
          </a:solidFill>
          <a:ln w="12700">
            <a:solidFill>
              <a:srgbClr val="F2A65A"/>
            </a:solidFill>
            <a:prstDash val="solid"/>
          </a:ln>
        </p:spPr>
        <p:txBody>
          <a:bodyPr/>
          <a:lstStyle/>
          <a:p>
            <a:endParaRPr lang="en-US"/>
          </a:p>
        </p:txBody>
      </p:sp>
      <p:sp>
        <p:nvSpPr>
          <p:cNvPr id="6" name="Text 3"/>
          <p:cNvSpPr/>
          <p:nvPr/>
        </p:nvSpPr>
        <p:spPr>
          <a:xfrm>
            <a:off x="640080" y="5468112"/>
            <a:ext cx="10881360" cy="630936"/>
          </a:xfrm>
          <a:prstGeom prst="rect">
            <a:avLst/>
          </a:prstGeom>
          <a:noFill/>
          <a:ln/>
        </p:spPr>
        <p:txBody>
          <a:bodyPr wrap="square" rtlCol="0" anchor="ctr"/>
          <a:lstStyle/>
          <a:p>
            <a:pPr marL="0" indent="0">
              <a:buNone/>
            </a:pPr>
            <a:r>
              <a:rPr lang="en-US" sz="1050" dirty="0">
                <a:solidFill>
                  <a:srgbClr val="7A4A12"/>
                </a:solidFill>
                <a:latin typeface="Calibri" pitchFamily="34" charset="0"/>
                <a:ea typeface="Calibri" pitchFamily="34" charset="-122"/>
                <a:cs typeface="Calibri" pitchFamily="34" charset="-120"/>
              </a:rPr>
              <a:t>Heads up: the notebook's evaluate_model() function was only ever run on the validation set. Train-set Dice/Pixel Accuracy/Precision/Recall/F1 and any test-set numbers for THIS model were never printed — run evaluate_model(model, test_loader, device) if your report needs them.</a:t>
            </a:r>
            <a:endParaRPr lang="en-US" sz="1050" dirty="0"/>
          </a:p>
        </p:txBody>
      </p:sp>
      <p:sp>
        <p:nvSpPr>
          <p:cNvPr id="4" name="Text 4"/>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 — Base Model</a:t>
            </a:r>
            <a:endParaRPr lang="en-US" sz="900" dirty="0"/>
          </a:p>
        </p:txBody>
      </p:sp>
      <p:sp>
        <p:nvSpPr>
          <p:cNvPr id="8" name="Text 5"/>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BASE MULTI-TASK U-NET</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One Example, Up Close (Validation Image #5)</a:t>
            </a:r>
            <a:endParaRPr lang="en-US" sz="3000" dirty="0"/>
          </a:p>
        </p:txBody>
      </p:sp>
      <p:sp>
        <p:nvSpPr>
          <p:cNvPr id="4" name="Shape 2"/>
          <p:cNvSpPr/>
          <p:nvPr/>
        </p:nvSpPr>
        <p:spPr>
          <a:xfrm>
            <a:off x="502920" y="1737360"/>
            <a:ext cx="3520440" cy="2377440"/>
          </a:xfrm>
          <a:prstGeom prst="roundRect">
            <a:avLst>
              <a:gd name="adj" fmla="val 3077"/>
            </a:avLst>
          </a:prstGeom>
          <a:solidFill>
            <a:srgbClr val="F2F6F8"/>
          </a:solidFill>
          <a:ln w="9525">
            <a:solidFill>
              <a:srgbClr val="D8E1E6"/>
            </a:solidFill>
            <a:prstDash val="solid"/>
          </a:ln>
        </p:spPr>
        <p:txBody>
          <a:bodyPr/>
          <a:lstStyle/>
          <a:p>
            <a:endParaRPr lang="en-US"/>
          </a:p>
        </p:txBody>
      </p:sp>
      <p:sp>
        <p:nvSpPr>
          <p:cNvPr id="5" name="Text 3"/>
          <p:cNvSpPr/>
          <p:nvPr/>
        </p:nvSpPr>
        <p:spPr>
          <a:xfrm>
            <a:off x="594360" y="1847088"/>
            <a:ext cx="3337560" cy="1307592"/>
          </a:xfrm>
          <a:prstGeom prst="rect">
            <a:avLst/>
          </a:prstGeom>
          <a:noFill/>
          <a:ln/>
        </p:spPr>
        <p:txBody>
          <a:bodyPr wrap="square" rtlCol="0" anchor="b"/>
          <a:lstStyle/>
          <a:p>
            <a:pPr marL="0" indent="0" algn="ctr">
              <a:buNone/>
            </a:pPr>
            <a:r>
              <a:rPr lang="en-US" sz="3000" b="1" dirty="0">
                <a:solidFill>
                  <a:srgbClr val="065A82"/>
                </a:solidFill>
                <a:latin typeface="Cambria" pitchFamily="34" charset="0"/>
                <a:ea typeface="Cambria" pitchFamily="34" charset="-122"/>
                <a:cs typeface="Cambria" pitchFamily="34" charset="-120"/>
              </a:rPr>
              <a:t>86.9%</a:t>
            </a:r>
            <a:endParaRPr lang="en-US" sz="3000" dirty="0"/>
          </a:p>
        </p:txBody>
      </p:sp>
      <p:sp>
        <p:nvSpPr>
          <p:cNvPr id="6" name="Text 4"/>
          <p:cNvSpPr/>
          <p:nvPr/>
        </p:nvSpPr>
        <p:spPr>
          <a:xfrm>
            <a:off x="594360" y="3211373"/>
            <a:ext cx="3337560" cy="808330"/>
          </a:xfrm>
          <a:prstGeom prst="rect">
            <a:avLst/>
          </a:prstGeom>
          <a:noFill/>
          <a:ln/>
        </p:spPr>
        <p:txBody>
          <a:bodyPr wrap="square" rtlCol="0" anchor="t"/>
          <a:lstStyle/>
          <a:p>
            <a:pPr marL="0" indent="0" algn="ctr">
              <a:buNone/>
            </a:pPr>
            <a:r>
              <a:rPr lang="en-US" sz="1150" dirty="0">
                <a:solidFill>
                  <a:srgbClr val="5C6B73"/>
                </a:solidFill>
                <a:latin typeface="Calibri" pitchFamily="34" charset="0"/>
                <a:ea typeface="Calibri" pitchFamily="34" charset="-122"/>
                <a:cs typeface="Calibri" pitchFamily="34" charset="-120"/>
              </a:rPr>
              <a:t>Segmentation IoU</a:t>
            </a:r>
            <a:endParaRPr lang="en-US" sz="1150" dirty="0"/>
          </a:p>
          <a:p>
            <a:pPr marL="0" indent="0" algn="ctr">
              <a:buNone/>
            </a:pPr>
            <a:r>
              <a:rPr lang="en-US" sz="1150" dirty="0">
                <a:solidFill>
                  <a:srgbClr val="5C6B73"/>
                </a:solidFill>
                <a:latin typeface="Calibri" pitchFamily="34" charset="0"/>
                <a:ea typeface="Calibri" pitchFamily="34" charset="-122"/>
                <a:cs typeface="Calibri" pitchFamily="34" charset="-120"/>
              </a:rPr>
              <a:t>on this single image</a:t>
            </a:r>
            <a:endParaRPr lang="en-US" sz="1150" dirty="0"/>
          </a:p>
        </p:txBody>
      </p:sp>
      <p:sp>
        <p:nvSpPr>
          <p:cNvPr id="7" name="Shape 5"/>
          <p:cNvSpPr/>
          <p:nvPr/>
        </p:nvSpPr>
        <p:spPr>
          <a:xfrm>
            <a:off x="4297680" y="1737360"/>
            <a:ext cx="3520440" cy="2377440"/>
          </a:xfrm>
          <a:prstGeom prst="roundRect">
            <a:avLst>
              <a:gd name="adj" fmla="val 3077"/>
            </a:avLst>
          </a:prstGeom>
          <a:solidFill>
            <a:srgbClr val="F2F6F8"/>
          </a:solidFill>
          <a:ln w="9525">
            <a:solidFill>
              <a:srgbClr val="D8E1E6"/>
            </a:solidFill>
            <a:prstDash val="solid"/>
          </a:ln>
        </p:spPr>
        <p:txBody>
          <a:bodyPr/>
          <a:lstStyle/>
          <a:p>
            <a:endParaRPr lang="en-US"/>
          </a:p>
        </p:txBody>
      </p:sp>
      <p:sp>
        <p:nvSpPr>
          <p:cNvPr id="8" name="Text 6"/>
          <p:cNvSpPr/>
          <p:nvPr/>
        </p:nvSpPr>
        <p:spPr>
          <a:xfrm>
            <a:off x="4434840" y="1920240"/>
            <a:ext cx="3246120" cy="320040"/>
          </a:xfrm>
          <a:prstGeom prst="rect">
            <a:avLst/>
          </a:prstGeom>
          <a:noFill/>
          <a:ln/>
        </p:spPr>
        <p:txBody>
          <a:bodyPr wrap="square" rtlCol="0" anchor="ctr"/>
          <a:lstStyle/>
          <a:p>
            <a:pPr marL="0" indent="0">
              <a:buNone/>
            </a:pPr>
            <a:r>
              <a:rPr lang="en-US" sz="1200" dirty="0">
                <a:solidFill>
                  <a:srgbClr val="5C6B73"/>
                </a:solidFill>
                <a:latin typeface="Calibri" pitchFamily="34" charset="0"/>
                <a:ea typeface="Calibri" pitchFamily="34" charset="-122"/>
                <a:cs typeface="Calibri" pitchFamily="34" charset="-120"/>
              </a:rPr>
              <a:t>True Breed</a:t>
            </a:r>
            <a:endParaRPr lang="en-US" sz="1200" dirty="0"/>
          </a:p>
        </p:txBody>
      </p:sp>
      <p:sp>
        <p:nvSpPr>
          <p:cNvPr id="9" name="Text 7"/>
          <p:cNvSpPr/>
          <p:nvPr/>
        </p:nvSpPr>
        <p:spPr>
          <a:xfrm>
            <a:off x="4434840" y="2212848"/>
            <a:ext cx="3246120" cy="502920"/>
          </a:xfrm>
          <a:prstGeom prst="rect">
            <a:avLst/>
          </a:prstGeom>
          <a:noFill/>
          <a:ln/>
        </p:spPr>
        <p:txBody>
          <a:bodyPr wrap="square" rtlCol="0" anchor="ctr"/>
          <a:lstStyle/>
          <a:p>
            <a:pPr marL="0" indent="0">
              <a:buNone/>
            </a:pPr>
            <a:r>
              <a:rPr lang="en-US" sz="2200" b="1" dirty="0">
                <a:solidFill>
                  <a:srgbClr val="1B263B"/>
                </a:solidFill>
                <a:latin typeface="Cambria" pitchFamily="34" charset="0"/>
                <a:ea typeface="Cambria" pitchFamily="34" charset="-122"/>
                <a:cs typeface="Cambria" pitchFamily="34" charset="-120"/>
              </a:rPr>
              <a:t>Havanese</a:t>
            </a:r>
            <a:endParaRPr lang="en-US" sz="2200" dirty="0"/>
          </a:p>
        </p:txBody>
      </p:sp>
      <p:sp>
        <p:nvSpPr>
          <p:cNvPr id="10" name="Shape 8"/>
          <p:cNvSpPr/>
          <p:nvPr/>
        </p:nvSpPr>
        <p:spPr>
          <a:xfrm>
            <a:off x="4434840" y="2880360"/>
            <a:ext cx="3246120" cy="0"/>
          </a:xfrm>
          <a:prstGeom prst="line">
            <a:avLst/>
          </a:prstGeom>
          <a:noFill/>
          <a:ln w="12700">
            <a:solidFill>
              <a:srgbClr val="D8E1E6"/>
            </a:solidFill>
            <a:prstDash val="solid"/>
          </a:ln>
        </p:spPr>
        <p:txBody>
          <a:bodyPr/>
          <a:lstStyle/>
          <a:p>
            <a:endParaRPr lang="en-US"/>
          </a:p>
        </p:txBody>
      </p:sp>
      <p:sp>
        <p:nvSpPr>
          <p:cNvPr id="11" name="Text 9"/>
          <p:cNvSpPr/>
          <p:nvPr/>
        </p:nvSpPr>
        <p:spPr>
          <a:xfrm>
            <a:off x="4434840" y="2971800"/>
            <a:ext cx="3246120" cy="320040"/>
          </a:xfrm>
          <a:prstGeom prst="rect">
            <a:avLst/>
          </a:prstGeom>
          <a:noFill/>
          <a:ln/>
        </p:spPr>
        <p:txBody>
          <a:bodyPr wrap="square" rtlCol="0" anchor="ctr"/>
          <a:lstStyle/>
          <a:p>
            <a:pPr marL="0" indent="0">
              <a:buNone/>
            </a:pPr>
            <a:r>
              <a:rPr lang="en-US" sz="1200" dirty="0">
                <a:solidFill>
                  <a:srgbClr val="5C6B73"/>
                </a:solidFill>
                <a:latin typeface="Calibri" pitchFamily="34" charset="0"/>
                <a:ea typeface="Calibri" pitchFamily="34" charset="-122"/>
                <a:cs typeface="Calibri" pitchFamily="34" charset="-120"/>
              </a:rPr>
              <a:t>Predicted Breed</a:t>
            </a:r>
            <a:endParaRPr lang="en-US" sz="1200" dirty="0"/>
          </a:p>
        </p:txBody>
      </p:sp>
      <p:sp>
        <p:nvSpPr>
          <p:cNvPr id="12" name="Text 10"/>
          <p:cNvSpPr/>
          <p:nvPr/>
        </p:nvSpPr>
        <p:spPr>
          <a:xfrm>
            <a:off x="4434840" y="3264408"/>
            <a:ext cx="3246120" cy="502920"/>
          </a:xfrm>
          <a:prstGeom prst="rect">
            <a:avLst/>
          </a:prstGeom>
          <a:noFill/>
          <a:ln/>
        </p:spPr>
        <p:txBody>
          <a:bodyPr wrap="square" rtlCol="0" anchor="ctr"/>
          <a:lstStyle/>
          <a:p>
            <a:pPr marL="0" indent="0">
              <a:buNone/>
            </a:pPr>
            <a:r>
              <a:rPr lang="en-US" sz="2200" b="1" dirty="0">
                <a:solidFill>
                  <a:srgbClr val="C0392B"/>
                </a:solidFill>
                <a:latin typeface="Cambria" pitchFamily="34" charset="0"/>
                <a:ea typeface="Cambria" pitchFamily="34" charset="-122"/>
                <a:cs typeface="Cambria" pitchFamily="34" charset="-120"/>
              </a:rPr>
              <a:t>Great Pyrenees</a:t>
            </a:r>
            <a:endParaRPr lang="en-US" sz="2200" dirty="0"/>
          </a:p>
        </p:txBody>
      </p:sp>
      <p:sp>
        <p:nvSpPr>
          <p:cNvPr id="13" name="Shape 11"/>
          <p:cNvSpPr/>
          <p:nvPr/>
        </p:nvSpPr>
        <p:spPr>
          <a:xfrm>
            <a:off x="8092440" y="1737360"/>
            <a:ext cx="3108960" cy="2377440"/>
          </a:xfrm>
          <a:prstGeom prst="roundRect">
            <a:avLst>
              <a:gd name="adj" fmla="val 3077"/>
            </a:avLst>
          </a:prstGeom>
          <a:solidFill>
            <a:srgbClr val="13294B"/>
          </a:solidFill>
          <a:ln/>
        </p:spPr>
        <p:txBody>
          <a:bodyPr/>
          <a:lstStyle/>
          <a:p>
            <a:endParaRPr lang="en-US"/>
          </a:p>
        </p:txBody>
      </p:sp>
      <p:sp>
        <p:nvSpPr>
          <p:cNvPr id="14" name="Text 12"/>
          <p:cNvSpPr/>
          <p:nvPr/>
        </p:nvSpPr>
        <p:spPr>
          <a:xfrm>
            <a:off x="8092440" y="1920240"/>
            <a:ext cx="3108960" cy="640080"/>
          </a:xfrm>
          <a:prstGeom prst="rect">
            <a:avLst/>
          </a:prstGeom>
          <a:noFill/>
          <a:ln/>
        </p:spPr>
        <p:txBody>
          <a:bodyPr wrap="square" rtlCol="0" anchor="ctr"/>
          <a:lstStyle/>
          <a:p>
            <a:pPr marL="0" indent="0" algn="ctr">
              <a:buNone/>
            </a:pPr>
            <a:r>
              <a:rPr lang="en-US" sz="3000" b="1" dirty="0">
                <a:solidFill>
                  <a:srgbClr val="E86A5C"/>
                </a:solidFill>
                <a:latin typeface="Calibri" pitchFamily="34" charset="0"/>
                <a:ea typeface="Calibri" pitchFamily="34" charset="-122"/>
                <a:cs typeface="Calibri" pitchFamily="34" charset="-120"/>
              </a:rPr>
              <a:t>✕</a:t>
            </a:r>
            <a:endParaRPr lang="en-US" sz="3000" dirty="0"/>
          </a:p>
        </p:txBody>
      </p:sp>
      <p:sp>
        <p:nvSpPr>
          <p:cNvPr id="15" name="Text 13"/>
          <p:cNvSpPr/>
          <p:nvPr/>
        </p:nvSpPr>
        <p:spPr>
          <a:xfrm>
            <a:off x="8275320" y="2606040"/>
            <a:ext cx="2743200" cy="36576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Breed guess was wrong</a:t>
            </a:r>
            <a:endParaRPr lang="en-US" sz="1250" dirty="0"/>
          </a:p>
        </p:txBody>
      </p:sp>
      <p:sp>
        <p:nvSpPr>
          <p:cNvPr id="16" name="Text 14"/>
          <p:cNvSpPr/>
          <p:nvPr/>
        </p:nvSpPr>
        <p:spPr>
          <a:xfrm>
            <a:off x="8275320" y="3017520"/>
            <a:ext cx="2743200" cy="914400"/>
          </a:xfrm>
          <a:prstGeom prst="rect">
            <a:avLst/>
          </a:prstGeom>
          <a:noFill/>
          <a:ln/>
        </p:spPr>
        <p:txBody>
          <a:bodyPr wrap="square" rtlCol="0" anchor="t"/>
          <a:lstStyle/>
          <a:p>
            <a:pPr marL="0" indent="0" algn="ctr">
              <a:buNone/>
            </a:pPr>
            <a:r>
              <a:rPr lang="en-US" sz="1150" dirty="0">
                <a:solidFill>
                  <a:srgbClr val="CADCFC"/>
                </a:solidFill>
                <a:latin typeface="Calibri" pitchFamily="34" charset="0"/>
                <a:ea typeface="Calibri" pitchFamily="34" charset="-122"/>
                <a:cs typeface="Calibri" pitchFamily="34" charset="-120"/>
              </a:rPr>
              <a:t>...but the segmentation mask was still excellent (86.9% IoU)</a:t>
            </a:r>
            <a:endParaRPr lang="en-US" sz="1150" dirty="0"/>
          </a:p>
        </p:txBody>
      </p:sp>
      <p:sp>
        <p:nvSpPr>
          <p:cNvPr id="17" name="Text 15"/>
          <p:cNvSpPr/>
          <p:nvPr/>
        </p:nvSpPr>
        <p:spPr>
          <a:xfrm>
            <a:off x="502920" y="4434840"/>
            <a:ext cx="11155680" cy="640080"/>
          </a:xfrm>
          <a:prstGeom prst="rect">
            <a:avLst/>
          </a:prstGeom>
          <a:noFill/>
          <a:ln/>
        </p:spPr>
        <p:txBody>
          <a:bodyPr wrap="square"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Why this matters: it's a nice, concrete example of what the bigger numbers already told us on the previous slide — this network is much better at outlining a pet than naming its breed.</a:t>
            </a:r>
            <a:endParaRPr lang="en-US" sz="1350" dirty="0"/>
          </a:p>
        </p:txBody>
      </p:sp>
      <p:sp>
        <p:nvSpPr>
          <p:cNvPr id="18" name="Text 16"/>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 — Base Model</a:t>
            </a:r>
            <a:endParaRPr lang="en-US" sz="900" dirty="0"/>
          </a:p>
        </p:txBody>
      </p:sp>
      <p:sp>
        <p:nvSpPr>
          <p:cNvPr id="19" name="Text 17"/>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BONUS TASK 1 — TEST SET</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Swapping in Pretrained Classifier Backbones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3840480"/>
        </p:xfrm>
        <a:graphic>
          <a:graphicData uri="http://schemas.openxmlformats.org/drawingml/2006/table">
            <a:tbl>
              <a:tblPr/>
              <a:tblGrid>
                <a:gridCol w="3840480">
                  <a:extLst>
                    <a:ext uri="{9D8B030D-6E8A-4147-A177-3AD203B41FA5}">
                      <a16:colId xmlns:a16="http://schemas.microsoft.com/office/drawing/2014/main" val="20000"/>
                    </a:ext>
                  </a:extLst>
                </a:gridCol>
                <a:gridCol w="2438705">
                  <a:extLst>
                    <a:ext uri="{9D8B030D-6E8A-4147-A177-3AD203B41FA5}">
                      <a16:colId xmlns:a16="http://schemas.microsoft.com/office/drawing/2014/main" val="20001"/>
                    </a:ext>
                  </a:extLst>
                </a:gridCol>
                <a:gridCol w="2438705">
                  <a:extLst>
                    <a:ext uri="{9D8B030D-6E8A-4147-A177-3AD203B41FA5}">
                      <a16:colId xmlns:a16="http://schemas.microsoft.com/office/drawing/2014/main" val="20002"/>
                    </a:ext>
                  </a:extLst>
                </a:gridCol>
                <a:gridCol w="2437790">
                  <a:extLst>
                    <a:ext uri="{9D8B030D-6E8A-4147-A177-3AD203B41FA5}">
                      <a16:colId xmlns:a16="http://schemas.microsoft.com/office/drawing/2014/main" val="20003"/>
                    </a:ext>
                  </a:extLst>
                </a:gridCol>
              </a:tblGrid>
              <a:tr h="384048">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Metric</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MobileNetV3</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DenseNet121</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EfficientNet-B0</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gridSpan="4">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SEGMENTATION</a:t>
                      </a:r>
                      <a:endParaRPr lang="en-US" sz="11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1C729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mIoU (%)</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0.58%</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0.18%</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41.64%</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Dice Coefficient</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0.0112</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0.0018</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0.5663</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3"/>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Pixel Accuracy (%)</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58.15%</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58.36%</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41.64%</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gridSpan="4">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CLASSIFICATION</a:t>
                      </a:r>
                      <a:endParaRPr lang="en-US" sz="11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1C729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Accuracy (%)</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1.89%</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2.25%</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2.34%</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0.0190</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0.0135</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0.0364</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7"/>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0.0189</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0.0225</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0.0234</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F1 Score</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0.0161</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0.0101</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0.0222</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9"/>
                  </a:ext>
                </a:extLst>
              </a:tr>
            </a:tbl>
          </a:graphicData>
        </a:graphic>
      </p:graphicFrame>
      <p:sp>
        <p:nvSpPr>
          <p:cNvPr id="5" name="Shape 2"/>
          <p:cNvSpPr/>
          <p:nvPr/>
        </p:nvSpPr>
        <p:spPr>
          <a:xfrm>
            <a:off x="502920" y="5257800"/>
            <a:ext cx="11155680" cy="777240"/>
          </a:xfrm>
          <a:prstGeom prst="roundRect">
            <a:avLst>
              <a:gd name="adj" fmla="val 7059"/>
            </a:avLst>
          </a:prstGeom>
          <a:solidFill>
            <a:srgbClr val="FDF3E7"/>
          </a:solidFill>
          <a:ln w="12700">
            <a:solidFill>
              <a:srgbClr val="F2A65A"/>
            </a:solidFill>
            <a:prstDash val="solid"/>
          </a:ln>
        </p:spPr>
        <p:txBody>
          <a:bodyPr/>
          <a:lstStyle/>
          <a:p>
            <a:endParaRPr lang="en-US"/>
          </a:p>
        </p:txBody>
      </p:sp>
      <p:sp>
        <p:nvSpPr>
          <p:cNvPr id="6" name="Text 3"/>
          <p:cNvSpPr/>
          <p:nvPr/>
        </p:nvSpPr>
        <p:spPr>
          <a:xfrm>
            <a:off x="640080" y="5285232"/>
            <a:ext cx="10881360" cy="722376"/>
          </a:xfrm>
          <a:prstGeom prst="rect">
            <a:avLst/>
          </a:prstGeom>
          <a:noFill/>
          <a:ln/>
        </p:spPr>
        <p:txBody>
          <a:bodyPr wrap="square" rtlCol="0" anchor="ctr"/>
          <a:lstStyle/>
          <a:p>
            <a:pPr marL="0" indent="0">
              <a:buNone/>
            </a:pPr>
            <a:r>
              <a:rPr lang="en-US" sz="1100" dirty="0">
                <a:solidFill>
                  <a:srgbClr val="7A4A12"/>
                </a:solidFill>
                <a:latin typeface="Calibri" pitchFamily="34" charset="0"/>
                <a:ea typeface="Calibri" pitchFamily="34" charset="-122"/>
                <a:cs typeface="Calibri" pitchFamily="34" charset="-120"/>
              </a:rPr>
              <a:t>Why the scores are so low: only the classifier head used pretrained (ImageNet) weights here. The U-Net encoder/decoder that does the segmentation was freshly initialized and never trained in this experiment — so this mainly tests that the architecture plugs together, not real performance.</a:t>
            </a:r>
            <a:endParaRPr lang="en-US" sz="1100" dirty="0"/>
          </a:p>
        </p:txBody>
      </p:sp>
      <p:sp>
        <p:nvSpPr>
          <p:cNvPr id="7" name="Text 4"/>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 — Bonus 1</a:t>
            </a:r>
            <a:endParaRPr lang="en-US" sz="900" dirty="0"/>
          </a:p>
        </p:txBody>
      </p:sp>
      <p:sp>
        <p:nvSpPr>
          <p:cNvPr id="8" name="Text 5"/>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BONUS TASK 2 — TEST SET, 3 QUICK EPOCHS</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Comparing Custom Loss Functions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3840480"/>
        </p:xfrm>
        <a:graphic>
          <a:graphicData uri="http://schemas.openxmlformats.org/drawingml/2006/table">
            <a:tbl>
              <a:tblPr/>
              <a:tblGrid>
                <a:gridCol w="3840480">
                  <a:extLst>
                    <a:ext uri="{9D8B030D-6E8A-4147-A177-3AD203B41FA5}">
                      <a16:colId xmlns:a16="http://schemas.microsoft.com/office/drawing/2014/main" val="20000"/>
                    </a:ext>
                  </a:extLst>
                </a:gridCol>
                <a:gridCol w="2438705">
                  <a:extLst>
                    <a:ext uri="{9D8B030D-6E8A-4147-A177-3AD203B41FA5}">
                      <a16:colId xmlns:a16="http://schemas.microsoft.com/office/drawing/2014/main" val="20001"/>
                    </a:ext>
                  </a:extLst>
                </a:gridCol>
                <a:gridCol w="2438705">
                  <a:extLst>
                    <a:ext uri="{9D8B030D-6E8A-4147-A177-3AD203B41FA5}">
                      <a16:colId xmlns:a16="http://schemas.microsoft.com/office/drawing/2014/main" val="20002"/>
                    </a:ext>
                  </a:extLst>
                </a:gridCol>
                <a:gridCol w="2437790">
                  <a:extLst>
                    <a:ext uri="{9D8B030D-6E8A-4147-A177-3AD203B41FA5}">
                      <a16:colId xmlns:a16="http://schemas.microsoft.com/office/drawing/2014/main" val="20003"/>
                    </a:ext>
                  </a:extLst>
                </a:gridCol>
              </a:tblGrid>
              <a:tr h="384048">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Metric</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Dice Loss</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Focal Loss</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Combo (Dice+Focal)</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gridSpan="4">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SEGMENTATION</a:t>
                      </a:r>
                      <a:endParaRPr lang="en-US" sz="11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1C729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mIoU (%)</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68.75%</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34.14%</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61.44%</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Dice Coefficient</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0.8029</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0.4775</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0.7421</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3"/>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Pixel Accuracy (%)</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83.81%</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70.08%</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82.31%</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gridSpan="4">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CLASSIFICATION</a:t>
                      </a:r>
                      <a:endParaRPr lang="en-US" sz="11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1C729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Accuracy (%)</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12.26%</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4.96%</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9.65%</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0.1154</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0.0213</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0.1081</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7"/>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0.1226</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0.0496</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0.0965</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F1 Score</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0.0859</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0.0200</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0.0644</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9"/>
                  </a:ext>
                </a:extLst>
              </a:tr>
            </a:tbl>
          </a:graphicData>
        </a:graphic>
      </p:graphicFrame>
      <p:sp>
        <p:nvSpPr>
          <p:cNvPr id="5" name="Text 2"/>
          <p:cNvSpPr/>
          <p:nvPr/>
        </p:nvSpPr>
        <p:spPr>
          <a:xfrm>
            <a:off x="502920" y="5486400"/>
            <a:ext cx="11155680" cy="457200"/>
          </a:xfrm>
          <a:prstGeom prst="rect">
            <a:avLst/>
          </a:prstGeom>
          <a:noFill/>
          <a:ln/>
        </p:spPr>
        <p:txBody>
          <a:bodyPr wrap="square" rtlCol="0" anchor="ctr"/>
          <a:lstStyle/>
          <a:p>
            <a:pPr marL="0" indent="0">
              <a:buNone/>
            </a:pPr>
            <a:r>
              <a:rPr lang="en-US" sz="1300" i="1" dirty="0">
                <a:solidFill>
                  <a:srgbClr val="5C6B73"/>
                </a:solidFill>
                <a:latin typeface="Calibri" pitchFamily="34" charset="0"/>
                <a:ea typeface="Calibri" pitchFamily="34" charset="-122"/>
                <a:cs typeface="Calibri" pitchFamily="34" charset="-120"/>
              </a:rPr>
              <a:t>Dice Loss came out on top for segmentation on every single metric here. Focal Loss trained the slowest of the three in just 3 epochs.</a:t>
            </a:r>
            <a:endParaRPr lang="en-US" sz="1300" dirty="0"/>
          </a:p>
        </p:txBody>
      </p:sp>
      <p:sp>
        <p:nvSpPr>
          <p:cNvPr id="6" name="Text 3"/>
          <p:cNvSpPr/>
          <p:nvPr/>
        </p:nvSpPr>
        <p:spPr>
          <a:xfrm>
            <a:off x="502920" y="5852160"/>
            <a:ext cx="11155680" cy="411480"/>
          </a:xfrm>
          <a:prstGeom prst="rect">
            <a:avLst/>
          </a:prstGeom>
          <a:noFill/>
          <a:ln/>
        </p:spPr>
        <p:txBody>
          <a:bodyPr wrap="square" rtlCol="0" anchor="ctr"/>
          <a:lstStyle/>
          <a:p>
            <a:pPr marL="0" indent="0">
              <a:buNone/>
            </a:pPr>
            <a:r>
              <a:rPr lang="en-US" sz="1100" dirty="0">
                <a:solidFill>
                  <a:srgbClr val="5C6B73"/>
                </a:solidFill>
                <a:latin typeface="Calibri" pitchFamily="34" charset="0"/>
                <a:ea typeface="Calibri" pitchFamily="34" charset="-122"/>
                <a:cs typeface="Calibri" pitchFamily="34" charset="-120"/>
              </a:rPr>
              <a:t>Note: each of these three models was only re-trained for 3 quick epochs (not the full 15), so don't compare these numbers directly to the main model's 15-epoch results.</a:t>
            </a:r>
            <a:endParaRPr lang="en-US" sz="1100" dirty="0"/>
          </a:p>
        </p:txBody>
      </p:sp>
      <p:sp>
        <p:nvSpPr>
          <p:cNvPr id="7" name="Text 4"/>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 — Bonus 2</a:t>
            </a:r>
            <a:endParaRPr lang="en-US" sz="900" dirty="0"/>
          </a:p>
        </p:txBody>
      </p:sp>
      <p:sp>
        <p:nvSpPr>
          <p:cNvPr id="8" name="Text 5"/>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BONUS TASKS 3 &amp; 4 — TEST SET, 3 QUICK EPOCHS</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Attention U-Net vs. Fast BiFPN U-Net</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8778240" cy="3840480"/>
        </p:xfrm>
        <a:graphic>
          <a:graphicData uri="http://schemas.openxmlformats.org/drawingml/2006/table">
            <a:tbl>
              <a:tblPr/>
              <a:tblGrid>
                <a:gridCol w="3291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Metric</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Attention U-Net</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Fast BiFPN U-Net</a:t>
                      </a:r>
                      <a:endParaRPr lang="en-US" sz="13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gridSpan="3">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SEGMENTATION</a:t>
                      </a:r>
                      <a:endParaRPr lang="en-US" sz="11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1C729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mIoU (%)</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68.26%</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66.75%</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Dice Coefficient</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0.7989</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0.7856</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3"/>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Pixel Accuracy (%)</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84.43%</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82.78%</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gridSpan="3">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CLASSIFICATION</a:t>
                      </a:r>
                      <a:endParaRPr lang="en-US" sz="115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1C729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Accuracy (%)</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11.00%</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13.17%</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0.0602</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0.0823</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7"/>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0.1100</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0.1317</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lgn="l">
                        <a:buNone/>
                      </a:pPr>
                      <a:r>
                        <a:rPr lang="en-US" sz="1300" b="1" dirty="0">
                          <a:solidFill>
                            <a:srgbClr val="1B263B"/>
                          </a:solidFill>
                          <a:latin typeface="Calibri" pitchFamily="34" charset="0"/>
                          <a:ea typeface="Calibri" pitchFamily="34" charset="-122"/>
                          <a:cs typeface="Calibri" pitchFamily="34" charset="-120"/>
                        </a:rPr>
                        <a:t>F1 Score</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0.0693</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tc>
                  <a:txBody>
                    <a:bodyPr/>
                    <a:lstStyle/>
                    <a:p>
                      <a:pPr marL="0" indent="0" algn="ctr">
                        <a:buNone/>
                      </a:pPr>
                      <a:r>
                        <a:rPr lang="en-US" sz="1300" dirty="0">
                          <a:solidFill>
                            <a:srgbClr val="1B263B"/>
                          </a:solidFill>
                          <a:latin typeface="Calibri" pitchFamily="34" charset="0"/>
                          <a:ea typeface="Calibri" pitchFamily="34" charset="-122"/>
                          <a:cs typeface="Calibri" pitchFamily="34" charset="-120"/>
                        </a:rPr>
                        <a:t>0.0896</a:t>
                      </a:r>
                      <a:endParaRPr lang="en-US" sz="1300" dirty="0">
                        <a:latin typeface="Calibri" charset="0"/>
                        <a:ea typeface="Calibri" charset="0"/>
                        <a:cs typeface="Calibri" charset="0"/>
                      </a:endParaRPr>
                    </a:p>
                  </a:txBody>
                  <a:tcPr anchor="ctr">
                    <a:lnL w="9525" cap="flat" cmpd="sng" algn="ctr">
                      <a:solidFill>
                        <a:srgbClr val="D8E1E6"/>
                      </a:solidFill>
                      <a:prstDash val="solid"/>
                      <a:round/>
                      <a:headEnd type="none" w="med" len="med"/>
                      <a:tailEnd type="none" w="med" len="med"/>
                    </a:lnL>
                    <a:lnR w="9525" cap="flat" cmpd="sng" algn="ctr">
                      <a:solidFill>
                        <a:srgbClr val="D8E1E6"/>
                      </a:solidFill>
                      <a:prstDash val="solid"/>
                      <a:round/>
                      <a:headEnd type="none" w="med" len="med"/>
                      <a:tailEnd type="none" w="med" len="med"/>
                    </a:lnR>
                    <a:lnT w="9525" cap="flat" cmpd="sng" algn="ctr">
                      <a:solidFill>
                        <a:srgbClr val="D8E1E6"/>
                      </a:solidFill>
                      <a:prstDash val="solid"/>
                      <a:round/>
                      <a:headEnd type="none" w="med" len="med"/>
                      <a:tailEnd type="none" w="med" len="med"/>
                    </a:lnT>
                    <a:lnB w="9525" cap="flat" cmpd="sng" algn="ctr">
                      <a:solidFill>
                        <a:srgbClr val="D8E1E6"/>
                      </a:solidFill>
                      <a:prstDash val="solid"/>
                      <a:round/>
                      <a:headEnd type="none" w="med" len="med"/>
                      <a:tailEnd type="none" w="med" len="med"/>
                    </a:lnB>
                    <a:solidFill>
                      <a:srgbClr val="F2F6F8"/>
                    </a:solidFill>
                  </a:tcPr>
                </a:tc>
                <a:extLst>
                  <a:ext uri="{0D108BD9-81ED-4DB2-BD59-A6C34878D82A}">
                    <a16:rowId xmlns:a16="http://schemas.microsoft.com/office/drawing/2014/main" val="10009"/>
                  </a:ext>
                </a:extLst>
              </a:tr>
            </a:tbl>
          </a:graphicData>
        </a:graphic>
      </p:graphicFrame>
      <p:sp>
        <p:nvSpPr>
          <p:cNvPr id="5" name="Shape 2"/>
          <p:cNvSpPr/>
          <p:nvPr/>
        </p:nvSpPr>
        <p:spPr>
          <a:xfrm>
            <a:off x="9509760" y="1417320"/>
            <a:ext cx="2148840" cy="3977640"/>
          </a:xfrm>
          <a:prstGeom prst="roundRect">
            <a:avLst>
              <a:gd name="adj" fmla="val 3404"/>
            </a:avLst>
          </a:prstGeom>
          <a:solidFill>
            <a:srgbClr val="F2F6F8"/>
          </a:solidFill>
          <a:ln w="9525">
            <a:solidFill>
              <a:srgbClr val="D8E1E6"/>
            </a:solidFill>
            <a:prstDash val="solid"/>
          </a:ln>
        </p:spPr>
        <p:txBody>
          <a:bodyPr/>
          <a:lstStyle/>
          <a:p>
            <a:endParaRPr lang="en-US"/>
          </a:p>
        </p:txBody>
      </p:sp>
      <p:sp>
        <p:nvSpPr>
          <p:cNvPr id="6" name="Text 3"/>
          <p:cNvSpPr/>
          <p:nvPr/>
        </p:nvSpPr>
        <p:spPr>
          <a:xfrm>
            <a:off x="9646920" y="1600200"/>
            <a:ext cx="1874520" cy="320040"/>
          </a:xfrm>
          <a:prstGeom prst="rect">
            <a:avLst/>
          </a:prstGeom>
          <a:noFill/>
          <a:ln/>
        </p:spPr>
        <p:txBody>
          <a:bodyPr wrap="square" rtlCol="0" anchor="ctr"/>
          <a:lstStyle/>
          <a:p>
            <a:pPr marL="0" indent="0">
              <a:buNone/>
            </a:pPr>
            <a:r>
              <a:rPr lang="en-US" sz="1200" b="1">
                <a:solidFill>
                  <a:srgbClr val="065A82"/>
                </a:solidFill>
                <a:latin typeface="Calibri" pitchFamily="34" charset="0"/>
                <a:ea typeface="Calibri" pitchFamily="34" charset="-122"/>
                <a:cs typeface="Calibri" pitchFamily="34" charset="-120"/>
              </a:rPr>
              <a:t>Note:</a:t>
            </a:r>
            <a:endParaRPr lang="en-US" sz="1200" dirty="0"/>
          </a:p>
        </p:txBody>
      </p:sp>
      <p:sp>
        <p:nvSpPr>
          <p:cNvPr id="7" name="Text 4"/>
          <p:cNvSpPr/>
          <p:nvPr/>
        </p:nvSpPr>
        <p:spPr>
          <a:xfrm>
            <a:off x="9646920" y="1965960"/>
            <a:ext cx="1874520" cy="3291840"/>
          </a:xfrm>
          <a:prstGeom prst="rect">
            <a:avLst/>
          </a:prstGeom>
          <a:noFill/>
          <a:ln/>
        </p:spPr>
        <p:txBody>
          <a:bodyPr wrap="square" rtlCol="0" anchor="t"/>
          <a:lstStyle/>
          <a:p>
            <a:pPr marL="0" indent="0">
              <a:buNone/>
            </a:pPr>
            <a:r>
              <a:rPr lang="en-US" sz="1150" dirty="0">
                <a:solidFill>
                  <a:srgbClr val="1B263B"/>
                </a:solidFill>
                <a:latin typeface="Calibri" pitchFamily="34" charset="0"/>
                <a:ea typeface="Calibri" pitchFamily="34" charset="-122"/>
                <a:cs typeface="Calibri" pitchFamily="34" charset="-120"/>
              </a:rPr>
              <a:t>Attention gates edged out the BiFPN decoder on segmentation.</a:t>
            </a:r>
            <a:endParaRPr lang="en-US" sz="1150" dirty="0"/>
          </a:p>
          <a:p>
            <a:pPr marL="0" indent="0">
              <a:buNone/>
            </a:pPr>
            <a:endParaRPr lang="en-US" sz="1150" dirty="0"/>
          </a:p>
          <a:p>
            <a:pPr marL="0" indent="0">
              <a:buNone/>
            </a:pPr>
            <a:r>
              <a:rPr lang="en-US" sz="1150" dirty="0">
                <a:solidFill>
                  <a:srgbClr val="1B263B"/>
                </a:solidFill>
                <a:latin typeface="Calibri" pitchFamily="34" charset="0"/>
                <a:ea typeface="Calibri" pitchFamily="34" charset="-122"/>
                <a:cs typeface="Calibri" pitchFamily="34" charset="-120"/>
              </a:rPr>
              <a:t>BiFPN slightly edged out Attention on classification instead.</a:t>
            </a:r>
            <a:endParaRPr lang="en-US" sz="1150" dirty="0"/>
          </a:p>
          <a:p>
            <a:pPr marL="0" indent="0">
              <a:buNone/>
            </a:pPr>
            <a:endParaRPr lang="en-US" sz="1150" dirty="0"/>
          </a:p>
          <a:p>
            <a:pPr marL="0" indent="0">
              <a:buNone/>
            </a:pPr>
            <a:r>
              <a:rPr lang="en-US" sz="1150" dirty="0">
                <a:solidFill>
                  <a:srgbClr val="1B263B"/>
                </a:solidFill>
                <a:latin typeface="Calibri" pitchFamily="34" charset="0"/>
                <a:ea typeface="Calibri" pitchFamily="34" charset="-122"/>
                <a:cs typeface="Calibri" pitchFamily="34" charset="-120"/>
              </a:rPr>
              <a:t>Both are close overall.</a:t>
            </a:r>
            <a:endParaRPr lang="en-US" sz="1150" dirty="0"/>
          </a:p>
        </p:txBody>
      </p:sp>
      <p:sp>
        <p:nvSpPr>
          <p:cNvPr id="8" name="Text 5"/>
          <p:cNvSpPr/>
          <p:nvPr/>
        </p:nvSpPr>
        <p:spPr>
          <a:xfrm>
            <a:off x="502920" y="5577840"/>
            <a:ext cx="11155680" cy="457200"/>
          </a:xfrm>
          <a:prstGeom prst="rect">
            <a:avLst/>
          </a:prstGeom>
          <a:noFill/>
          <a:ln/>
        </p:spPr>
        <p:txBody>
          <a:bodyPr wrap="square" rtlCol="0" anchor="ctr"/>
          <a:lstStyle/>
          <a:p>
            <a:pPr marL="0" indent="0">
              <a:buNone/>
            </a:pPr>
            <a:r>
              <a:rPr lang="en-US" sz="1100" i="1" dirty="0">
                <a:solidFill>
                  <a:srgbClr val="5C6B73"/>
                </a:solidFill>
                <a:latin typeface="Calibri" pitchFamily="34" charset="0"/>
                <a:ea typeface="Calibri" pitchFamily="34" charset="-122"/>
                <a:cs typeface="Calibri" pitchFamily="34" charset="-120"/>
              </a:rPr>
              <a:t>Both models were freshly initialized and trained for only 3 epochs before this evaluation — a fair head-to-head against each other, but not against the fully-trained 15-epoch base model.</a:t>
            </a:r>
            <a:endParaRPr lang="en-US" sz="1100" dirty="0"/>
          </a:p>
        </p:txBody>
      </p:sp>
      <p:sp>
        <p:nvSpPr>
          <p:cNvPr id="9" name="Text 6"/>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 — Bonus 3 &amp; 4</a:t>
            </a:r>
            <a:endParaRPr lang="en-US" sz="900" dirty="0"/>
          </a:p>
        </p:txBody>
      </p:sp>
      <p:sp>
        <p:nvSpPr>
          <p:cNvPr id="10" name="Text 7"/>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BONUS TASK 5</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EfficientDet-Style BiFPN U-Net</a:t>
            </a:r>
            <a:endParaRPr lang="en-US" sz="3000" dirty="0"/>
          </a:p>
        </p:txBody>
      </p:sp>
      <p:sp>
        <p:nvSpPr>
          <p:cNvPr id="4" name="Text 2"/>
          <p:cNvSpPr/>
          <p:nvPr/>
        </p:nvSpPr>
        <p:spPr>
          <a:xfrm>
            <a:off x="502920" y="1463040"/>
            <a:ext cx="11155680" cy="822960"/>
          </a:xfrm>
          <a:prstGeom prst="rect">
            <a:avLst/>
          </a:prstGeom>
          <a:noFill/>
          <a:ln/>
        </p:spPr>
        <p:txBody>
          <a:bodyPr wrap="square" rtlCol="0" anchor="ctr"/>
          <a:lstStyle/>
          <a:p>
            <a:pPr marL="0" indent="0">
              <a:buNone/>
            </a:pPr>
            <a:r>
              <a:rPr lang="en-US" sz="1450" dirty="0">
                <a:solidFill>
                  <a:srgbClr val="5C6B73"/>
                </a:solidFill>
                <a:latin typeface="Calibri" pitchFamily="34" charset="0"/>
                <a:ea typeface="Calibri" pitchFamily="34" charset="-122"/>
                <a:cs typeface="Calibri" pitchFamily="34" charset="-120"/>
              </a:rPr>
              <a:t>This model adds a fuller BiFPN layer — it fuses features both top-down AND bottom-up across three resolutions (P3, P4, P5), instead of the simpler one-way fusion used in Bonus 4.</a:t>
            </a:r>
            <a:endParaRPr lang="en-US" sz="1450" dirty="0"/>
          </a:p>
        </p:txBody>
      </p:sp>
      <p:sp>
        <p:nvSpPr>
          <p:cNvPr id="5" name="Shape 3"/>
          <p:cNvSpPr/>
          <p:nvPr/>
        </p:nvSpPr>
        <p:spPr>
          <a:xfrm>
            <a:off x="502920" y="2514600"/>
            <a:ext cx="11155680" cy="2926080"/>
          </a:xfrm>
          <a:prstGeom prst="roundRect">
            <a:avLst>
              <a:gd name="adj" fmla="val 3125"/>
            </a:avLst>
          </a:prstGeom>
          <a:solidFill>
            <a:srgbClr val="FDF3E7"/>
          </a:solidFill>
          <a:ln w="15875">
            <a:solidFill>
              <a:srgbClr val="F2A65A"/>
            </a:solidFill>
            <a:prstDash val="solid"/>
          </a:ln>
        </p:spPr>
        <p:txBody>
          <a:bodyPr/>
          <a:lstStyle/>
          <a:p>
            <a:endParaRPr lang="en-US"/>
          </a:p>
        </p:txBody>
      </p:sp>
      <p:sp>
        <p:nvSpPr>
          <p:cNvPr id="6" name="Text 4"/>
          <p:cNvSpPr/>
          <p:nvPr/>
        </p:nvSpPr>
        <p:spPr>
          <a:xfrm>
            <a:off x="868680" y="2834640"/>
            <a:ext cx="914400" cy="914400"/>
          </a:xfrm>
          <a:prstGeom prst="rect">
            <a:avLst/>
          </a:prstGeom>
          <a:noFill/>
          <a:ln/>
        </p:spPr>
        <p:txBody>
          <a:bodyPr wrap="square" rtlCol="0" anchor="ctr"/>
          <a:lstStyle/>
          <a:p>
            <a:pPr marL="0" indent="0" algn="ctr">
              <a:buNone/>
            </a:pPr>
            <a:r>
              <a:rPr lang="en-US" sz="4200" dirty="0">
                <a:solidFill>
                  <a:srgbClr val="F2A65A"/>
                </a:solidFill>
                <a:latin typeface="Calibri" pitchFamily="34" charset="0"/>
                <a:ea typeface="Calibri" pitchFamily="34" charset="-122"/>
                <a:cs typeface="Calibri" pitchFamily="34" charset="-120"/>
              </a:rPr>
              <a:t>⚠</a:t>
            </a:r>
            <a:endParaRPr lang="en-US" sz="4200" dirty="0"/>
          </a:p>
        </p:txBody>
      </p:sp>
      <p:sp>
        <p:nvSpPr>
          <p:cNvPr id="7" name="Text 5"/>
          <p:cNvSpPr/>
          <p:nvPr/>
        </p:nvSpPr>
        <p:spPr>
          <a:xfrm>
            <a:off x="1965960" y="2788920"/>
            <a:ext cx="9326880" cy="502920"/>
          </a:xfrm>
          <a:prstGeom prst="rect">
            <a:avLst/>
          </a:prstGeom>
          <a:noFill/>
          <a:ln/>
        </p:spPr>
        <p:txBody>
          <a:bodyPr wrap="square" rtlCol="0" anchor="ctr"/>
          <a:lstStyle/>
          <a:p>
            <a:pPr marL="0" indent="0">
              <a:buNone/>
            </a:pPr>
            <a:r>
              <a:rPr lang="en-US" sz="1800" b="1" dirty="0">
                <a:solidFill>
                  <a:srgbClr val="7A4A12"/>
                </a:solidFill>
                <a:latin typeface="Cambria" pitchFamily="34" charset="0"/>
                <a:ea typeface="Cambria" pitchFamily="34" charset="-122"/>
                <a:cs typeface="Cambria" pitchFamily="34" charset="-120"/>
              </a:rPr>
              <a:t>Result table wasn't captured in the uploaded file</a:t>
            </a:r>
            <a:endParaRPr lang="en-US" sz="1800" dirty="0"/>
          </a:p>
        </p:txBody>
      </p:sp>
      <p:sp>
        <p:nvSpPr>
          <p:cNvPr id="8" name="Text 6"/>
          <p:cNvSpPr/>
          <p:nvPr/>
        </p:nvSpPr>
        <p:spPr>
          <a:xfrm>
            <a:off x="1965960" y="3383280"/>
            <a:ext cx="9326880" cy="1005840"/>
          </a:xfrm>
          <a:prstGeom prst="rect">
            <a:avLst/>
          </a:prstGeom>
          <a:noFill/>
          <a:ln/>
        </p:spPr>
        <p:txBody>
          <a:bodyPr wrap="square" rtlCol="0" anchor="t"/>
          <a:lstStyle/>
          <a:p>
            <a:pPr marL="0" indent="0">
              <a:buNone/>
            </a:pPr>
            <a:r>
              <a:rPr lang="en-US" sz="1300" dirty="0">
                <a:solidFill>
                  <a:srgbClr val="7A4A12"/>
                </a:solidFill>
                <a:latin typeface="Calibri" pitchFamily="34" charset="0"/>
                <a:ea typeface="Calibri" pitchFamily="34" charset="-122"/>
                <a:cs typeface="Calibri" pitchFamily="34" charset="-120"/>
              </a:rPr>
              <a:t>The notebook prints "=== EFFICIENTDET BiFPN U-NET TEST METRICS ===" and shows a "BiFPN U-Net Test Set" table header, but the actual mIoU / Dice / Pixel Accuracy / Accuracy / Precision / Recall / F1 numbers in that output row didn't come through in the exported PDF.</a:t>
            </a:r>
            <a:endParaRPr lang="en-US" sz="1300" dirty="0"/>
          </a:p>
        </p:txBody>
      </p:sp>
      <p:sp>
        <p:nvSpPr>
          <p:cNvPr id="9" name="Text 7"/>
          <p:cNvSpPr/>
          <p:nvPr/>
        </p:nvSpPr>
        <p:spPr>
          <a:xfrm>
            <a:off x="1965960" y="4434840"/>
            <a:ext cx="9326880" cy="822960"/>
          </a:xfrm>
          <a:prstGeom prst="rect">
            <a:avLst/>
          </a:prstGeom>
          <a:noFill/>
          <a:ln/>
        </p:spPr>
        <p:txBody>
          <a:bodyPr wrap="square" rtlCol="0" anchor="t"/>
          <a:lstStyle/>
          <a:p>
            <a:pPr marL="0" indent="0">
              <a:buNone/>
            </a:pPr>
            <a:r>
              <a:rPr lang="en-US" sz="1300" b="1" dirty="0">
                <a:solidFill>
                  <a:srgbClr val="7A4A12"/>
                </a:solidFill>
                <a:latin typeface="Calibri" pitchFamily="34" charset="0"/>
                <a:ea typeface="Calibri" pitchFamily="34" charset="-122"/>
                <a:cs typeface="Calibri" pitchFamily="34" charset="-120"/>
              </a:rPr>
              <a:t>Before you present: re-run this cell in Colab (or check the live notebook output) and swap in the real numbers here — same 7 metrics as every other slide (mIoU, Dice, Pixel Accuracy, Accuracy, Precision, Recall, F1).</a:t>
            </a:r>
            <a:endParaRPr lang="en-US" sz="1300" dirty="0"/>
          </a:p>
        </p:txBody>
      </p:sp>
      <p:sp>
        <p:nvSpPr>
          <p:cNvPr id="10" name="Text 8"/>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 — Bonus 5</a:t>
            </a:r>
            <a:endParaRPr lang="en-US" sz="900" dirty="0"/>
          </a:p>
        </p:txBody>
      </p:sp>
      <p:sp>
        <p:nvSpPr>
          <p:cNvPr id="11" name="Text 9"/>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300" b="1" kern="0" spc="100" dirty="0">
                <a:solidFill>
                  <a:srgbClr val="1C7293"/>
                </a:solidFill>
                <a:latin typeface="Calibri" pitchFamily="34" charset="0"/>
                <a:ea typeface="Calibri" pitchFamily="34" charset="-122"/>
                <a:cs typeface="Calibri" pitchFamily="34" charset="-120"/>
              </a:rPr>
              <a:t>BIG PICTURE</a:t>
            </a:r>
            <a:endParaRPr lang="en-US" sz="13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3000" b="1" dirty="0">
                <a:solidFill>
                  <a:srgbClr val="1B263B"/>
                </a:solidFill>
                <a:latin typeface="Cambria" pitchFamily="34" charset="0"/>
                <a:ea typeface="Cambria" pitchFamily="34" charset="-122"/>
                <a:cs typeface="Cambria" pitchFamily="34" charset="-120"/>
              </a:rPr>
              <a:t>Test-Set Segmentation mIoU — All Bonus Models</a:t>
            </a:r>
            <a:endParaRPr lang="en-US" sz="3000" dirty="0"/>
          </a:p>
        </p:txBody>
      </p:sp>
      <p:graphicFrame>
        <p:nvGraphicFramePr>
          <p:cNvPr id="4" name="Chart 0"/>
          <p:cNvGraphicFramePr/>
          <p:nvPr/>
        </p:nvGraphicFramePr>
        <p:xfrm>
          <a:off x="502920" y="1371600"/>
          <a:ext cx="1115568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02920" y="5669280"/>
            <a:ext cx="11155680" cy="457200"/>
          </a:xfrm>
          <a:prstGeom prst="rect">
            <a:avLst/>
          </a:prstGeom>
          <a:noFill/>
          <a:ln/>
        </p:spPr>
        <p:txBody>
          <a:bodyPr wrap="square" rtlCol="0" anchor="ctr"/>
          <a:lstStyle/>
          <a:p>
            <a:pPr marL="0" indent="0">
              <a:buNone/>
            </a:pPr>
            <a:r>
              <a:rPr lang="en-US" sz="1150" i="1" dirty="0">
                <a:solidFill>
                  <a:srgbClr val="5C6B73"/>
                </a:solidFill>
                <a:latin typeface="Calibri" pitchFamily="34" charset="0"/>
                <a:ea typeface="Calibri" pitchFamily="34" charset="-122"/>
                <a:cs typeface="Calibri" pitchFamily="34" charset="-120"/>
              </a:rPr>
              <a:t>Amber bars = the three closest test-set performers (Dice Loss retrain, Attention U-Net, Fast BiFPN U-Net). Base model and Bonus 5 aren't shown — neither has a comparable test-set number in the notebook.</a:t>
            </a:r>
            <a:endParaRPr lang="en-US" sz="1150" dirty="0"/>
          </a:p>
        </p:txBody>
      </p:sp>
      <p:sp>
        <p:nvSpPr>
          <p:cNvPr id="6" name="Text 3"/>
          <p:cNvSpPr/>
          <p:nvPr/>
        </p:nvSpPr>
        <p:spPr>
          <a:xfrm>
            <a:off x="502920" y="6510528"/>
            <a:ext cx="6400800" cy="274320"/>
          </a:xfrm>
          <a:prstGeom prst="rect">
            <a:avLst/>
          </a:prstGeom>
          <a:noFill/>
          <a:ln/>
        </p:spPr>
        <p:txBody>
          <a:bodyPr wrap="square"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CSE428 — Results Summary</a:t>
            </a:r>
            <a:endParaRPr lang="en-US" sz="900" dirty="0"/>
          </a:p>
        </p:txBody>
      </p:sp>
      <p:sp>
        <p:nvSpPr>
          <p:cNvPr id="7" name="Text 4"/>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94B"/>
        </a:solidFill>
        <a:effectLst/>
      </p:bgPr>
    </p:bg>
    <p:spTree>
      <p:nvGrpSpPr>
        <p:cNvPr id="1" name=""/>
        <p:cNvGrpSpPr/>
        <p:nvPr/>
      </p:nvGrpSpPr>
      <p:grpSpPr>
        <a:xfrm>
          <a:off x="0" y="0"/>
          <a:ext cx="0" cy="0"/>
          <a:chOff x="0" y="0"/>
          <a:chExt cx="0" cy="0"/>
        </a:xfrm>
      </p:grpSpPr>
      <p:sp>
        <p:nvSpPr>
          <p:cNvPr id="2" name="Shape 0"/>
          <p:cNvSpPr/>
          <p:nvPr/>
        </p:nvSpPr>
        <p:spPr>
          <a:xfrm>
            <a:off x="-1463040" y="-1463040"/>
            <a:ext cx="4114800" cy="4114800"/>
          </a:xfrm>
          <a:prstGeom prst="ellipse">
            <a:avLst/>
          </a:prstGeom>
          <a:solidFill>
            <a:srgbClr val="065A82">
              <a:alpha val="45000"/>
            </a:srgbClr>
          </a:solidFill>
          <a:ln/>
        </p:spPr>
        <p:txBody>
          <a:bodyPr/>
          <a:lstStyle/>
          <a:p>
            <a:endParaRPr lang="en-US"/>
          </a:p>
        </p:txBody>
      </p:sp>
      <p:sp>
        <p:nvSpPr>
          <p:cNvPr id="3" name="Text 1"/>
          <p:cNvSpPr/>
          <p:nvPr/>
        </p:nvSpPr>
        <p:spPr>
          <a:xfrm>
            <a:off x="502920" y="502920"/>
            <a:ext cx="10058400" cy="365760"/>
          </a:xfrm>
          <a:prstGeom prst="rect">
            <a:avLst/>
          </a:prstGeom>
          <a:noFill/>
          <a:ln/>
        </p:spPr>
        <p:txBody>
          <a:bodyPr wrap="square"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KEY TAKEAWAYS</a:t>
            </a:r>
            <a:endParaRPr lang="en-US" sz="1400" dirty="0"/>
          </a:p>
        </p:txBody>
      </p:sp>
      <p:sp>
        <p:nvSpPr>
          <p:cNvPr id="4" name="Text 2"/>
          <p:cNvSpPr/>
          <p:nvPr/>
        </p:nvSpPr>
        <p:spPr>
          <a:xfrm>
            <a:off x="502920" y="868680"/>
            <a:ext cx="10515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To Remember When Presenting</a:t>
            </a:r>
            <a:endParaRPr lang="en-US" sz="2800" dirty="0"/>
          </a:p>
        </p:txBody>
      </p:sp>
      <p:sp>
        <p:nvSpPr>
          <p:cNvPr id="5" name="Shape 3"/>
          <p:cNvSpPr/>
          <p:nvPr/>
        </p:nvSpPr>
        <p:spPr>
          <a:xfrm>
            <a:off x="502920" y="1837944"/>
            <a:ext cx="128016" cy="128016"/>
          </a:xfrm>
          <a:prstGeom prst="ellipse">
            <a:avLst/>
          </a:prstGeom>
          <a:solidFill>
            <a:srgbClr val="F2A65A"/>
          </a:solidFill>
          <a:ln/>
        </p:spPr>
        <p:txBody>
          <a:bodyPr/>
          <a:lstStyle/>
          <a:p>
            <a:endParaRPr lang="en-US"/>
          </a:p>
        </p:txBody>
      </p:sp>
      <p:sp>
        <p:nvSpPr>
          <p:cNvPr id="6" name="Text 4"/>
          <p:cNvSpPr/>
          <p:nvPr/>
        </p:nvSpPr>
        <p:spPr>
          <a:xfrm>
            <a:off x="822960" y="1709928"/>
            <a:ext cx="10698480" cy="777240"/>
          </a:xfrm>
          <a:prstGeom prst="rect">
            <a:avLst/>
          </a:prstGeom>
          <a:noFill/>
          <a:ln/>
        </p:spPr>
        <p:txBody>
          <a:bodyPr wrap="square" rtlCol="0" anchor="t"/>
          <a:lstStyle/>
          <a:p>
            <a:pPr marL="0" indent="0">
              <a:lnSpc>
                <a:spcPct val="105000"/>
              </a:lnSpc>
              <a:buNone/>
            </a:pPr>
            <a:r>
              <a:rPr lang="en-US" sz="1400" dirty="0">
                <a:solidFill>
                  <a:srgbClr val="E6EEF5"/>
                </a:solidFill>
                <a:latin typeface="Calibri" pitchFamily="34" charset="0"/>
                <a:ea typeface="Calibri" pitchFamily="34" charset="-122"/>
                <a:cs typeface="Calibri" pitchFamily="34" charset="-120"/>
              </a:rPr>
              <a:t>Segmentation beat classification everywhere — every single experiment scored much higher on mIoU/Dice/Pixel Accuracy than on breed accuracy/precision/recall/F1.</a:t>
            </a:r>
            <a:endParaRPr lang="en-US" sz="1400" dirty="0"/>
          </a:p>
        </p:txBody>
      </p:sp>
      <p:sp>
        <p:nvSpPr>
          <p:cNvPr id="7" name="Shape 5"/>
          <p:cNvSpPr/>
          <p:nvPr/>
        </p:nvSpPr>
        <p:spPr>
          <a:xfrm>
            <a:off x="502920" y="2706624"/>
            <a:ext cx="128016" cy="128016"/>
          </a:xfrm>
          <a:prstGeom prst="ellipse">
            <a:avLst/>
          </a:prstGeom>
          <a:solidFill>
            <a:srgbClr val="F2A65A"/>
          </a:solidFill>
          <a:ln/>
        </p:spPr>
        <p:txBody>
          <a:bodyPr/>
          <a:lstStyle/>
          <a:p>
            <a:endParaRPr lang="en-US"/>
          </a:p>
        </p:txBody>
      </p:sp>
      <p:sp>
        <p:nvSpPr>
          <p:cNvPr id="8" name="Text 6"/>
          <p:cNvSpPr/>
          <p:nvPr/>
        </p:nvSpPr>
        <p:spPr>
          <a:xfrm>
            <a:off x="822960" y="2578608"/>
            <a:ext cx="10698480" cy="777240"/>
          </a:xfrm>
          <a:prstGeom prst="rect">
            <a:avLst/>
          </a:prstGeom>
          <a:noFill/>
          <a:ln/>
        </p:spPr>
        <p:txBody>
          <a:bodyPr wrap="square" rtlCol="0" anchor="t"/>
          <a:lstStyle/>
          <a:p>
            <a:pPr marL="0" indent="0">
              <a:lnSpc>
                <a:spcPct val="105000"/>
              </a:lnSpc>
              <a:buNone/>
            </a:pPr>
            <a:r>
              <a:rPr lang="en-US" sz="1400" dirty="0">
                <a:solidFill>
                  <a:srgbClr val="E6EEF5"/>
                </a:solidFill>
                <a:latin typeface="Calibri" pitchFamily="34" charset="0"/>
                <a:ea typeface="Calibri" pitchFamily="34" charset="-122"/>
                <a:cs typeface="Calibri" pitchFamily="34" charset="-120"/>
              </a:rPr>
              <a:t>Training length matters a lot: the base model's full 15 epochs reached 32.22% classification accuracy, while every 3-epoch bonus experiment stayed under 14%.</a:t>
            </a:r>
            <a:endParaRPr lang="en-US" sz="1400" dirty="0"/>
          </a:p>
        </p:txBody>
      </p:sp>
      <p:sp>
        <p:nvSpPr>
          <p:cNvPr id="9" name="Shape 7"/>
          <p:cNvSpPr/>
          <p:nvPr/>
        </p:nvSpPr>
        <p:spPr>
          <a:xfrm>
            <a:off x="502920" y="3575304"/>
            <a:ext cx="128016" cy="128016"/>
          </a:xfrm>
          <a:prstGeom prst="ellipse">
            <a:avLst/>
          </a:prstGeom>
          <a:solidFill>
            <a:srgbClr val="F2A65A"/>
          </a:solidFill>
          <a:ln/>
        </p:spPr>
        <p:txBody>
          <a:bodyPr/>
          <a:lstStyle/>
          <a:p>
            <a:endParaRPr lang="en-US"/>
          </a:p>
        </p:txBody>
      </p:sp>
      <p:sp>
        <p:nvSpPr>
          <p:cNvPr id="10" name="Text 8"/>
          <p:cNvSpPr/>
          <p:nvPr/>
        </p:nvSpPr>
        <p:spPr>
          <a:xfrm>
            <a:off x="822960" y="3447288"/>
            <a:ext cx="10698480" cy="777240"/>
          </a:xfrm>
          <a:prstGeom prst="rect">
            <a:avLst/>
          </a:prstGeom>
          <a:noFill/>
          <a:ln/>
        </p:spPr>
        <p:txBody>
          <a:bodyPr wrap="square" rtlCol="0" anchor="t"/>
          <a:lstStyle/>
          <a:p>
            <a:pPr marL="0" indent="0">
              <a:lnSpc>
                <a:spcPct val="105000"/>
              </a:lnSpc>
              <a:buNone/>
            </a:pPr>
            <a:r>
              <a:rPr lang="en-US" sz="1400" dirty="0">
                <a:solidFill>
                  <a:srgbClr val="E6EEF5"/>
                </a:solidFill>
                <a:latin typeface="Calibri" pitchFamily="34" charset="0"/>
                <a:ea typeface="Calibri" pitchFamily="34" charset="-122"/>
                <a:cs typeface="Calibri" pitchFamily="34" charset="-120"/>
              </a:rPr>
              <a:t>Among the bonus experiments, Dice Loss (retrain), Attention U-Net, and Fast BiFPN U-Net were the closest cluster of top performers on test-set mIoU (68.75% / 68.26% / 66.75%).</a:t>
            </a:r>
            <a:endParaRPr lang="en-US" sz="1400" dirty="0"/>
          </a:p>
        </p:txBody>
      </p:sp>
      <p:sp>
        <p:nvSpPr>
          <p:cNvPr id="11" name="Shape 9"/>
          <p:cNvSpPr/>
          <p:nvPr/>
        </p:nvSpPr>
        <p:spPr>
          <a:xfrm>
            <a:off x="502920" y="4443984"/>
            <a:ext cx="128016" cy="128016"/>
          </a:xfrm>
          <a:prstGeom prst="ellipse">
            <a:avLst/>
          </a:prstGeom>
          <a:solidFill>
            <a:srgbClr val="F2A65A"/>
          </a:solidFill>
          <a:ln/>
        </p:spPr>
        <p:txBody>
          <a:bodyPr/>
          <a:lstStyle/>
          <a:p>
            <a:endParaRPr lang="en-US"/>
          </a:p>
        </p:txBody>
      </p:sp>
      <p:sp>
        <p:nvSpPr>
          <p:cNvPr id="12" name="Text 10"/>
          <p:cNvSpPr/>
          <p:nvPr/>
        </p:nvSpPr>
        <p:spPr>
          <a:xfrm>
            <a:off x="822960" y="4315968"/>
            <a:ext cx="10698480" cy="777240"/>
          </a:xfrm>
          <a:prstGeom prst="rect">
            <a:avLst/>
          </a:prstGeom>
          <a:noFill/>
          <a:ln/>
        </p:spPr>
        <p:txBody>
          <a:bodyPr wrap="square" rtlCol="0" anchor="t"/>
          <a:lstStyle/>
          <a:p>
            <a:pPr marL="0" indent="0">
              <a:lnSpc>
                <a:spcPct val="105000"/>
              </a:lnSpc>
              <a:buNone/>
            </a:pPr>
            <a:r>
              <a:rPr lang="en-US" sz="1400" dirty="0">
                <a:solidFill>
                  <a:srgbClr val="E6EEF5"/>
                </a:solidFill>
                <a:latin typeface="Calibri" pitchFamily="34" charset="0"/>
                <a:ea typeface="Calibri" pitchFamily="34" charset="-122"/>
                <a:cs typeface="Calibri" pitchFamily="34" charset="-120"/>
              </a:rPr>
              <a:t>The Bonus 1 backbone swap scored very low because only the classifier head was pretrained — the segmentation encoder/decoder was never trained in that experiment.</a:t>
            </a:r>
            <a:endParaRPr lang="en-US" sz="1400" dirty="0"/>
          </a:p>
        </p:txBody>
      </p:sp>
      <p:sp>
        <p:nvSpPr>
          <p:cNvPr id="13" name="Shape 11"/>
          <p:cNvSpPr/>
          <p:nvPr/>
        </p:nvSpPr>
        <p:spPr>
          <a:xfrm>
            <a:off x="502920" y="5312664"/>
            <a:ext cx="128016" cy="128016"/>
          </a:xfrm>
          <a:prstGeom prst="ellipse">
            <a:avLst/>
          </a:prstGeom>
          <a:solidFill>
            <a:srgbClr val="F2A65A"/>
          </a:solidFill>
          <a:ln/>
        </p:spPr>
        <p:txBody>
          <a:bodyPr/>
          <a:lstStyle/>
          <a:p>
            <a:endParaRPr lang="en-US"/>
          </a:p>
        </p:txBody>
      </p:sp>
      <p:sp>
        <p:nvSpPr>
          <p:cNvPr id="14" name="Text 12"/>
          <p:cNvSpPr/>
          <p:nvPr/>
        </p:nvSpPr>
        <p:spPr>
          <a:xfrm>
            <a:off x="822960" y="5184648"/>
            <a:ext cx="10698480" cy="777240"/>
          </a:xfrm>
          <a:prstGeom prst="rect">
            <a:avLst/>
          </a:prstGeom>
          <a:noFill/>
          <a:ln/>
        </p:spPr>
        <p:txBody>
          <a:bodyPr wrap="square" rtlCol="0" anchor="t"/>
          <a:lstStyle/>
          <a:p>
            <a:pPr marL="0" indent="0">
              <a:lnSpc>
                <a:spcPct val="105000"/>
              </a:lnSpc>
              <a:buNone/>
            </a:pPr>
            <a:r>
              <a:rPr lang="en-US" sz="1400" dirty="0">
                <a:solidFill>
                  <a:srgbClr val="E6EEF5"/>
                </a:solidFill>
                <a:latin typeface="Calibri" pitchFamily="34" charset="0"/>
                <a:ea typeface="Calibri" pitchFamily="34" charset="-122"/>
                <a:cs typeface="Calibri" pitchFamily="34" charset="-120"/>
              </a:rPr>
              <a:t>Two gaps to close before the final report: the base model's test-set numbers, and Bonus Task 5's full metrics table — neither appeared in the notebook output.</a:t>
            </a:r>
            <a:endParaRPr lang="en-US" sz="1400" dirty="0"/>
          </a:p>
        </p:txBody>
      </p:sp>
      <p:sp>
        <p:nvSpPr>
          <p:cNvPr id="15" name="Text 13"/>
          <p:cNvSpPr/>
          <p:nvPr/>
        </p:nvSpPr>
        <p:spPr>
          <a:xfrm>
            <a:off x="502920" y="6263640"/>
            <a:ext cx="10058400" cy="365760"/>
          </a:xfrm>
          <a:prstGeom prst="rect">
            <a:avLst/>
          </a:prstGeom>
          <a:noFill/>
          <a:ln/>
        </p:spPr>
        <p:txBody>
          <a:bodyPr wrap="square" rtlCol="0" anchor="ctr"/>
          <a:lstStyle/>
          <a:p>
            <a:pPr marL="0" indent="0">
              <a:buNone/>
            </a:pPr>
            <a:r>
              <a:rPr lang="en-US" sz="1500" i="1" dirty="0">
                <a:solidFill>
                  <a:srgbClr val="9FB8D1"/>
                </a:solidFill>
                <a:latin typeface="Cambria" pitchFamily="34" charset="0"/>
                <a:ea typeface="Cambria" pitchFamily="34" charset="-122"/>
                <a:cs typeface="Cambria" pitchFamily="34" charset="-120"/>
              </a:rPr>
              <a:t>Thank you!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1888</Words>
  <Application>Microsoft Office PowerPoint</Application>
  <PresentationFormat>Widescreen</PresentationFormat>
  <Paragraphs>285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CSE428 Project Results Summary</dc:title>
  <dc:subject>PptxGenJS Presentation</dc:subject>
  <dc:creator>Tasnim</dc:creator>
  <cp:lastModifiedBy>TASNIM RAHMAN MOUMITA</cp:lastModifiedBy>
  <cp:revision>2</cp:revision>
  <dcterms:created xsi:type="dcterms:W3CDTF">2026-09-06T17:43:30Z</dcterms:created>
  <dcterms:modified xsi:type="dcterms:W3CDTF">2026-09-07T05:27:36Z</dcterms:modified>
</cp:coreProperties>
</file>